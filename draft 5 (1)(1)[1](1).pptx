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91" r:id="rId2"/>
    <p:sldId id="300" r:id="rId3"/>
    <p:sldId id="305" r:id="rId4"/>
    <p:sldId id="307" r:id="rId5"/>
    <p:sldId id="309" r:id="rId6"/>
    <p:sldId id="290" r:id="rId7"/>
    <p:sldId id="301" r:id="rId8"/>
    <p:sldId id="294" r:id="rId9"/>
    <p:sldId id="296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4950BC"/>
    <a:srgbClr val="1F497D"/>
    <a:srgbClr val="DADBF1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8C645-DF81-C6DB-0560-2455C1318427}" v="186" dt="2025-09-19T09:50:52.056"/>
    <p1510:client id="{536BF31A-9A8D-F3C7-D6BB-9ABD130D5897}" v="54" dt="2025-09-19T07:57:27.210"/>
    <p1510:client id="{75FD0B54-2FB9-400D-E27C-5B9A2F5FFF5D}" v="401" dt="2025-09-19T09:01:46.223"/>
    <p1510:client id="{7A4EA5DC-B5CC-E5D9-6B44-57FE913DEFD8}" v="9" dt="2025-09-19T08:39:53.425"/>
    <p1510:client id="{7CE311B1-FEE4-39D0-4501-8C32863D0047}" v="13" dt="2025-09-19T09:08:25.290"/>
    <p1510:client id="{869C4803-83A8-8205-A7FE-22BD67E24D78}" v="65" dt="2025-09-19T06:54:44.140"/>
    <p1510:client id="{A9B992B9-C5CD-4692-AEC7-6537CA156FFC}" v="1627" dt="2025-09-19T09:37:46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9E1B3D-E744-4A5C-BE9F-FBCD8BE1E034}" type="doc">
      <dgm:prSet loTypeId="urn:microsoft.com/office/officeart/2005/8/layout/radial2" loCatId="relationship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1FFC29E6-ED56-4D30-8700-26A2DAE3C382}">
      <dgm:prSet phldrT="[Text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sz="1600" b="0">
              <a:latin typeface="Times New Roman"/>
              <a:ea typeface="Calibri"/>
              <a:cs typeface="Times New Roman"/>
            </a:rPr>
            <a:t>Purpose</a:t>
          </a:r>
        </a:p>
      </dgm:t>
    </dgm:pt>
    <dgm:pt modelId="{3CEEA450-9917-43E3-BE1D-94186020AA1C}" type="parTrans" cxnId="{DAA4B575-9284-4E32-8C22-7340D93F6F3C}">
      <dgm:prSet/>
      <dgm:spPr/>
      <dgm:t>
        <a:bodyPr/>
        <a:lstStyle/>
        <a:p>
          <a:endParaRPr lang="en-US"/>
        </a:p>
      </dgm:t>
    </dgm:pt>
    <dgm:pt modelId="{3157D036-5639-455A-955E-73BC2DAA8163}" type="sibTrans" cxnId="{DAA4B575-9284-4E32-8C22-7340D93F6F3C}">
      <dgm:prSet/>
      <dgm:spPr/>
      <dgm:t>
        <a:bodyPr/>
        <a:lstStyle/>
        <a:p>
          <a:endParaRPr lang="en-US"/>
        </a:p>
      </dgm:t>
    </dgm:pt>
    <dgm:pt modelId="{3E18ED56-A10E-43DC-B375-1BFA10BD466F}">
      <dgm:prSet phldrT="[Text]" custT="1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1600">
              <a:latin typeface="Times New Roman"/>
              <a:cs typeface="Times New Roman"/>
            </a:rPr>
            <a:t>Prevents the traffic signals from getting stuck in one state .</a:t>
          </a:r>
        </a:p>
      </dgm:t>
    </dgm:pt>
    <dgm:pt modelId="{46A8F02C-1FC2-4D99-8EF9-3ED098655BAF}" type="parTrans" cxnId="{B721CF2F-EE40-4625-9B57-1E40CFAE80E0}">
      <dgm:prSet/>
      <dgm:spPr/>
      <dgm:t>
        <a:bodyPr/>
        <a:lstStyle/>
        <a:p>
          <a:endParaRPr lang="en-US"/>
        </a:p>
      </dgm:t>
    </dgm:pt>
    <dgm:pt modelId="{A62DDFE5-F150-4C51-8802-AD64BEC4FD46}" type="sibTrans" cxnId="{B721CF2F-EE40-4625-9B57-1E40CFAE80E0}">
      <dgm:prSet/>
      <dgm:spPr/>
      <dgm:t>
        <a:bodyPr/>
        <a:lstStyle/>
        <a:p>
          <a:endParaRPr lang="en-US"/>
        </a:p>
      </dgm:t>
    </dgm:pt>
    <dgm:pt modelId="{F81B1358-6DF8-464A-8E1C-586E71886E32}">
      <dgm:prSet phldrT="[Text]"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1600">
              <a:latin typeface="Times New Roman"/>
              <a:cs typeface="Times New Roman"/>
            </a:rPr>
            <a:t>Ensures continuous operation even during software or hardware glitches</a:t>
          </a:r>
        </a:p>
      </dgm:t>
    </dgm:pt>
    <dgm:pt modelId="{94F7FE48-D42F-4348-8B23-3B7F2233AA12}" type="parTrans" cxnId="{9F9AC444-3277-4E8A-8C3E-24392CF002E3}">
      <dgm:prSet/>
      <dgm:spPr/>
      <dgm:t>
        <a:bodyPr/>
        <a:lstStyle/>
        <a:p>
          <a:endParaRPr lang="en-US"/>
        </a:p>
      </dgm:t>
    </dgm:pt>
    <dgm:pt modelId="{7D9A4AF4-81E8-4762-9FF9-D0EDDEE16F5A}" type="sibTrans" cxnId="{9F9AC444-3277-4E8A-8C3E-24392CF002E3}">
      <dgm:prSet/>
      <dgm:spPr/>
      <dgm:t>
        <a:bodyPr/>
        <a:lstStyle/>
        <a:p>
          <a:endParaRPr lang="en-US"/>
        </a:p>
      </dgm:t>
    </dgm:pt>
    <dgm:pt modelId="{6ED20F78-E631-485D-AD21-D5EDE90DD059}">
      <dgm:prSet phldrT="[Text]" phldr="0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sz="1600">
              <a:latin typeface="Times New Roman"/>
              <a:cs typeface="Times New Roman"/>
            </a:rPr>
            <a:t>How it works</a:t>
          </a:r>
        </a:p>
      </dgm:t>
    </dgm:pt>
    <dgm:pt modelId="{056A5DA3-635E-45FE-9763-1F701A9392A5}" type="parTrans" cxnId="{DC9819B5-2379-4896-B29A-DFD2C1690B81}">
      <dgm:prSet/>
      <dgm:spPr/>
      <dgm:t>
        <a:bodyPr/>
        <a:lstStyle/>
        <a:p>
          <a:endParaRPr lang="en-US"/>
        </a:p>
      </dgm:t>
    </dgm:pt>
    <dgm:pt modelId="{6404D33B-DF77-4A4B-8F8D-1962BD73F88D}" type="sibTrans" cxnId="{DC9819B5-2379-4896-B29A-DFD2C1690B81}">
      <dgm:prSet/>
      <dgm:spPr/>
      <dgm:t>
        <a:bodyPr/>
        <a:lstStyle/>
        <a:p>
          <a:endParaRPr lang="en-US"/>
        </a:p>
      </dgm:t>
    </dgm:pt>
    <dgm:pt modelId="{DB9ACED2-964C-4B86-8108-F6B1E3505540}">
      <dgm:prSet phldrT="[Text]" custT="1"/>
      <dgm:spPr/>
      <dgm:t>
        <a:bodyPr/>
        <a:lstStyle/>
        <a:p>
          <a:pPr rtl="0"/>
          <a:r>
            <a:rPr lang="en-US" sz="1600" dirty="0">
              <a:latin typeface="Times New Roman"/>
              <a:cs typeface="Times New Roman"/>
            </a:rPr>
            <a:t>Controller must "reset" the watchdog timer periodically.</a:t>
          </a:r>
        </a:p>
      </dgm:t>
    </dgm:pt>
    <dgm:pt modelId="{F2530B6A-93FD-4C8B-964B-0321FE8C3534}" type="parTrans" cxnId="{6E63C2BA-486E-451E-85BA-7FF3C6FC226D}">
      <dgm:prSet/>
      <dgm:spPr/>
      <dgm:t>
        <a:bodyPr/>
        <a:lstStyle/>
        <a:p>
          <a:endParaRPr lang="en-US"/>
        </a:p>
      </dgm:t>
    </dgm:pt>
    <dgm:pt modelId="{77B06D7C-B4F1-4991-BBB2-10F74D1F5A3D}" type="sibTrans" cxnId="{6E63C2BA-486E-451E-85BA-7FF3C6FC226D}">
      <dgm:prSet/>
      <dgm:spPr/>
      <dgm:t>
        <a:bodyPr/>
        <a:lstStyle/>
        <a:p>
          <a:endParaRPr lang="en-US"/>
        </a:p>
      </dgm:t>
    </dgm:pt>
    <dgm:pt modelId="{F4A1F831-4EE7-49AB-98B7-9C291C7959D7}">
      <dgm:prSet phldrT="[Text]" phldr="0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sz="1600" b="0">
              <a:latin typeface="Times New Roman"/>
              <a:cs typeface="Times New Roman"/>
            </a:rPr>
            <a:t>Benefits</a:t>
          </a:r>
        </a:p>
      </dgm:t>
    </dgm:pt>
    <dgm:pt modelId="{62857663-E519-4393-9DE4-CD0F89B2612E}" type="parTrans" cxnId="{69E0A8C6-3C78-4D09-8098-27C13FDC686B}">
      <dgm:prSet/>
      <dgm:spPr/>
      <dgm:t>
        <a:bodyPr/>
        <a:lstStyle/>
        <a:p>
          <a:endParaRPr lang="en-US"/>
        </a:p>
      </dgm:t>
    </dgm:pt>
    <dgm:pt modelId="{44AFAEB9-60DA-4381-AED9-11D73EBFE585}" type="sibTrans" cxnId="{69E0A8C6-3C78-4D09-8098-27C13FDC686B}">
      <dgm:prSet/>
      <dgm:spPr/>
      <dgm:t>
        <a:bodyPr/>
        <a:lstStyle/>
        <a:p>
          <a:endParaRPr lang="en-US"/>
        </a:p>
      </dgm:t>
    </dgm:pt>
    <dgm:pt modelId="{8F1BAFD3-44A0-493F-8D0D-6710EAFEAAAE}">
      <dgm:prSet phldrT="[Text]" custT="1"/>
      <dgm:spPr/>
      <dgm:t>
        <a:bodyPr/>
        <a:lstStyle/>
        <a:p>
          <a:r>
            <a:rPr lang="en-US" sz="1600">
              <a:latin typeface="Times New Roman"/>
              <a:cs typeface="Times New Roman"/>
            </a:rPr>
            <a:t>Increases system reliability and fault tolerance. </a:t>
          </a:r>
          <a:endParaRPr lang="en-US"/>
        </a:p>
      </dgm:t>
    </dgm:pt>
    <dgm:pt modelId="{DEAC0A27-00E3-4222-BA7C-9EEAA316BA6C}" type="parTrans" cxnId="{F63B2091-9080-4AD2-8E16-5D8FE3F9DEC5}">
      <dgm:prSet/>
      <dgm:spPr/>
      <dgm:t>
        <a:bodyPr/>
        <a:lstStyle/>
        <a:p>
          <a:endParaRPr lang="en-US"/>
        </a:p>
      </dgm:t>
    </dgm:pt>
    <dgm:pt modelId="{2AAA305C-0678-4CAC-AF5E-C3475BEAAC11}" type="sibTrans" cxnId="{F63B2091-9080-4AD2-8E16-5D8FE3F9DEC5}">
      <dgm:prSet/>
      <dgm:spPr/>
      <dgm:t>
        <a:bodyPr/>
        <a:lstStyle/>
        <a:p>
          <a:endParaRPr lang="en-US"/>
        </a:p>
      </dgm:t>
    </dgm:pt>
    <dgm:pt modelId="{A818407E-DCCF-4D2D-9254-0F75A3D895E3}">
      <dgm:prSet phldrT="[Text]" phldr="0"/>
      <dgm:spPr/>
      <dgm:t>
        <a:bodyPr/>
        <a:lstStyle/>
        <a:p>
          <a:pPr rtl="0"/>
          <a:r>
            <a:rPr lang="en-US" sz="1600">
              <a:latin typeface="Times New Roman"/>
              <a:cs typeface="Times New Roman"/>
            </a:rPr>
            <a:t>Reduces manual intervention by auto-recovering from crashes </a:t>
          </a:r>
        </a:p>
      </dgm:t>
    </dgm:pt>
    <dgm:pt modelId="{2B57015A-8069-46EA-B537-1ED3BA9B1D66}" type="parTrans" cxnId="{55C9CC32-022E-4E21-A6DD-3A0D0C9BAA5B}">
      <dgm:prSet/>
      <dgm:spPr/>
      <dgm:t>
        <a:bodyPr/>
        <a:lstStyle/>
        <a:p>
          <a:endParaRPr lang="en-US"/>
        </a:p>
      </dgm:t>
    </dgm:pt>
    <dgm:pt modelId="{DEC57B2F-0001-4724-AA66-5F48A573DF2D}" type="sibTrans" cxnId="{55C9CC32-022E-4E21-A6DD-3A0D0C9BAA5B}">
      <dgm:prSet/>
      <dgm:spPr/>
      <dgm:t>
        <a:bodyPr/>
        <a:lstStyle/>
        <a:p>
          <a:endParaRPr lang="en-US"/>
        </a:p>
      </dgm:t>
    </dgm:pt>
    <dgm:pt modelId="{0FF8102F-6060-47E8-9137-77E309B75CB2}">
      <dgm:prSet phldr="0"/>
      <dgm:spPr/>
      <dgm:t>
        <a:bodyPr/>
        <a:lstStyle/>
        <a:p>
          <a:pPr rtl="0"/>
          <a:r>
            <a:rPr lang="en-US" sz="1600">
              <a:latin typeface="Times New Roman"/>
              <a:cs typeface="Times New Roman"/>
            </a:rPr>
            <a:t>Ensures uninterrupted traffic flow and safety</a:t>
          </a:r>
        </a:p>
      </dgm:t>
    </dgm:pt>
    <dgm:pt modelId="{3F604B46-7D33-4898-A6CC-29174A526A03}" type="parTrans" cxnId="{88E23A33-FF53-40A6-B7A4-311435EBC29C}">
      <dgm:prSet/>
      <dgm:spPr/>
      <dgm:t>
        <a:bodyPr/>
        <a:lstStyle/>
        <a:p>
          <a:endParaRPr lang="en-IN"/>
        </a:p>
      </dgm:t>
    </dgm:pt>
    <dgm:pt modelId="{1DBBC3DD-A217-475B-A983-6353043E5544}" type="sibTrans" cxnId="{88E23A33-FF53-40A6-B7A4-311435EBC29C}">
      <dgm:prSet/>
      <dgm:spPr/>
      <dgm:t>
        <a:bodyPr/>
        <a:lstStyle/>
        <a:p>
          <a:endParaRPr lang="en-IN"/>
        </a:p>
      </dgm:t>
    </dgm:pt>
    <dgm:pt modelId="{AF39F2B8-1CCE-4090-9553-9490754F9BC8}">
      <dgm:prSet phldr="0"/>
      <dgm:spPr/>
      <dgm:t>
        <a:bodyPr/>
        <a:lstStyle/>
        <a:p>
          <a:pPr rtl="0"/>
          <a:endParaRPr lang="en-US" sz="1600">
            <a:latin typeface="Times New Roman"/>
            <a:cs typeface="Times New Roman"/>
          </a:endParaRPr>
        </a:p>
      </dgm:t>
    </dgm:pt>
    <dgm:pt modelId="{EE7DF84B-931D-4BFE-BA99-94C5C500E5F8}" type="parTrans" cxnId="{3647DBC4-CD75-4139-BC13-17069A8CA612}">
      <dgm:prSet/>
      <dgm:spPr/>
      <dgm:t>
        <a:bodyPr/>
        <a:lstStyle/>
        <a:p>
          <a:endParaRPr lang="en-IN"/>
        </a:p>
      </dgm:t>
    </dgm:pt>
    <dgm:pt modelId="{E6DD1B11-AACF-43B1-A637-2D9A719A6EC2}" type="sibTrans" cxnId="{3647DBC4-CD75-4139-BC13-17069A8CA612}">
      <dgm:prSet/>
      <dgm:spPr/>
      <dgm:t>
        <a:bodyPr/>
        <a:lstStyle/>
        <a:p>
          <a:endParaRPr lang="en-IN"/>
        </a:p>
      </dgm:t>
    </dgm:pt>
    <dgm:pt modelId="{A045D35F-3FA4-4E06-992F-D58F44B5FA8E}">
      <dgm:prSet phldr="0"/>
      <dgm:spPr/>
      <dgm:t>
        <a:bodyPr/>
        <a:lstStyle/>
        <a:p>
          <a:pPr rtl="0"/>
          <a:endParaRPr lang="en-US" sz="1600">
            <a:latin typeface="Times New Roman"/>
            <a:cs typeface="Times New Roman"/>
          </a:endParaRPr>
        </a:p>
      </dgm:t>
    </dgm:pt>
    <dgm:pt modelId="{74671B91-B7EE-4BD7-BE1F-8DDB9A6879B9}" type="parTrans" cxnId="{B6A4C89B-CC87-45A0-8592-CF50AE4D54B2}">
      <dgm:prSet/>
      <dgm:spPr/>
      <dgm:t>
        <a:bodyPr/>
        <a:lstStyle/>
        <a:p>
          <a:endParaRPr lang="en-IN"/>
        </a:p>
      </dgm:t>
    </dgm:pt>
    <dgm:pt modelId="{F806500F-8029-481F-9849-2F01B6842BC2}" type="sibTrans" cxnId="{B6A4C89B-CC87-45A0-8592-CF50AE4D54B2}">
      <dgm:prSet/>
      <dgm:spPr/>
      <dgm:t>
        <a:bodyPr/>
        <a:lstStyle/>
        <a:p>
          <a:endParaRPr lang="en-IN"/>
        </a:p>
      </dgm:t>
    </dgm:pt>
    <dgm:pt modelId="{C2DCE570-4945-45B7-AD63-165B85D735AC}">
      <dgm:prSet phldrT="[Text]" phldr="0"/>
      <dgm:spPr/>
      <dgm:t>
        <a:bodyPr/>
        <a:lstStyle/>
        <a:p>
          <a:pPr rtl="0"/>
          <a:r>
            <a:rPr lang="en-US" sz="1600" dirty="0">
              <a:latin typeface="Times New Roman"/>
              <a:cs typeface="Times New Roman"/>
            </a:rPr>
            <a:t>If it fails -&gt;Watchdog auto-resets the system.</a:t>
          </a:r>
        </a:p>
      </dgm:t>
    </dgm:pt>
    <dgm:pt modelId="{4BC79291-AFBC-4860-91EA-1852A97F8771}" type="parTrans" cxnId="{33794290-275E-41F8-B80D-7F4EE4ACB3D4}">
      <dgm:prSet/>
      <dgm:spPr/>
      <dgm:t>
        <a:bodyPr/>
        <a:lstStyle/>
        <a:p>
          <a:endParaRPr lang="en-US"/>
        </a:p>
      </dgm:t>
    </dgm:pt>
    <dgm:pt modelId="{19155BCD-851B-440A-B6BA-43D5BCC992E6}" type="sibTrans" cxnId="{33794290-275E-41F8-B80D-7F4EE4ACB3D4}">
      <dgm:prSet/>
      <dgm:spPr/>
      <dgm:t>
        <a:bodyPr/>
        <a:lstStyle/>
        <a:p>
          <a:endParaRPr lang="en-US"/>
        </a:p>
      </dgm:t>
    </dgm:pt>
    <dgm:pt modelId="{49CC4367-88D6-46FF-BB84-E5AB0A44BD98}" type="pres">
      <dgm:prSet presAssocID="{B19E1B3D-E744-4A5C-BE9F-FBCD8BE1E034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9AA40AC0-3AEF-4135-95D2-A6CA7E9FC9CC}" type="pres">
      <dgm:prSet presAssocID="{B19E1B3D-E744-4A5C-BE9F-FBCD8BE1E034}" presName="cycle" presStyleCnt="0"/>
      <dgm:spPr/>
    </dgm:pt>
    <dgm:pt modelId="{14616CAA-40CB-45C5-969C-F5488B14C4BD}" type="pres">
      <dgm:prSet presAssocID="{B19E1B3D-E744-4A5C-BE9F-FBCD8BE1E034}" presName="centerShape" presStyleCnt="0"/>
      <dgm:spPr/>
    </dgm:pt>
    <dgm:pt modelId="{AAAAC46D-520B-4B7C-BB42-093D588499FD}" type="pres">
      <dgm:prSet presAssocID="{B19E1B3D-E744-4A5C-BE9F-FBCD8BE1E034}" presName="connSite" presStyleLbl="node1" presStyleIdx="0" presStyleCnt="4"/>
      <dgm:spPr/>
    </dgm:pt>
    <dgm:pt modelId="{413D1C8C-9CEA-41B3-8CFD-66A857D8EA70}" type="pres">
      <dgm:prSet presAssocID="{B19E1B3D-E744-4A5C-BE9F-FBCD8BE1E034}" presName="visible" presStyleLbl="node1" presStyleIdx="0" presStyleCnt="4"/>
      <dgm:spPr>
        <a:solidFill>
          <a:schemeClr val="tx2">
            <a:lumMod val="20000"/>
            <a:lumOff val="80000"/>
          </a:schemeClr>
        </a:solidFill>
      </dgm:spPr>
    </dgm:pt>
    <dgm:pt modelId="{DF2C070C-69AF-4118-B7D2-B1B8FF8B5A26}" type="pres">
      <dgm:prSet presAssocID="{3CEEA450-9917-43E3-BE1D-94186020AA1C}" presName="Name25" presStyleLbl="parChTrans1D1" presStyleIdx="0" presStyleCnt="3"/>
      <dgm:spPr/>
    </dgm:pt>
    <dgm:pt modelId="{E225AE59-DF9B-43E5-8907-4B612B3A117E}" type="pres">
      <dgm:prSet presAssocID="{1FFC29E6-ED56-4D30-8700-26A2DAE3C382}" presName="node" presStyleCnt="0"/>
      <dgm:spPr/>
    </dgm:pt>
    <dgm:pt modelId="{DC561F17-8398-4D1B-B114-87ED583CA702}" type="pres">
      <dgm:prSet presAssocID="{1FFC29E6-ED56-4D30-8700-26A2DAE3C382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7B00B39F-1FC0-4C2D-8C65-7B879C7A7BCF}" type="pres">
      <dgm:prSet presAssocID="{1FFC29E6-ED56-4D30-8700-26A2DAE3C382}" presName="childNode" presStyleLbl="revTx" presStyleIdx="0" presStyleCnt="3">
        <dgm:presLayoutVars>
          <dgm:bulletEnabled val="1"/>
        </dgm:presLayoutVars>
      </dgm:prSet>
      <dgm:spPr/>
    </dgm:pt>
    <dgm:pt modelId="{D19FD4C7-EECC-4AA0-811C-65455BAD44DD}" type="pres">
      <dgm:prSet presAssocID="{056A5DA3-635E-45FE-9763-1F701A9392A5}" presName="Name25" presStyleLbl="parChTrans1D1" presStyleIdx="1" presStyleCnt="3"/>
      <dgm:spPr/>
    </dgm:pt>
    <dgm:pt modelId="{370C80D0-3CEE-4354-84A3-10BA17EE40A2}" type="pres">
      <dgm:prSet presAssocID="{6ED20F78-E631-485D-AD21-D5EDE90DD059}" presName="node" presStyleCnt="0"/>
      <dgm:spPr/>
    </dgm:pt>
    <dgm:pt modelId="{2C264540-0D50-40BF-B43E-DC83C170928C}" type="pres">
      <dgm:prSet presAssocID="{6ED20F78-E631-485D-AD21-D5EDE90DD059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F963EF80-15A2-4949-87E7-4519DF295681}" type="pres">
      <dgm:prSet presAssocID="{6ED20F78-E631-485D-AD21-D5EDE90DD059}" presName="childNode" presStyleLbl="revTx" presStyleIdx="1" presStyleCnt="3">
        <dgm:presLayoutVars>
          <dgm:bulletEnabled val="1"/>
        </dgm:presLayoutVars>
      </dgm:prSet>
      <dgm:spPr/>
    </dgm:pt>
    <dgm:pt modelId="{80CACBE5-0076-4C09-B10E-A229DABCC7FF}" type="pres">
      <dgm:prSet presAssocID="{62857663-E519-4393-9DE4-CD0F89B2612E}" presName="Name25" presStyleLbl="parChTrans1D1" presStyleIdx="2" presStyleCnt="3"/>
      <dgm:spPr/>
    </dgm:pt>
    <dgm:pt modelId="{E0DAAAA1-47B0-49CA-8064-B88AD14FAF01}" type="pres">
      <dgm:prSet presAssocID="{F4A1F831-4EE7-49AB-98B7-9C291C7959D7}" presName="node" presStyleCnt="0"/>
      <dgm:spPr/>
    </dgm:pt>
    <dgm:pt modelId="{CDD5E61B-C37F-4422-B31F-5E350C45B08B}" type="pres">
      <dgm:prSet presAssocID="{F4A1F831-4EE7-49AB-98B7-9C291C7959D7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186AA170-B4A1-4490-9B1F-0F882ACC88D7}" type="pres">
      <dgm:prSet presAssocID="{F4A1F831-4EE7-49AB-98B7-9C291C7959D7}" presName="childNode" presStyleLbl="revTx" presStyleIdx="2" presStyleCnt="3">
        <dgm:presLayoutVars>
          <dgm:bulletEnabled val="1"/>
        </dgm:presLayoutVars>
      </dgm:prSet>
      <dgm:spPr/>
    </dgm:pt>
  </dgm:ptLst>
  <dgm:cxnLst>
    <dgm:cxn modelId="{C3E9BD1D-B083-4205-A2DE-3C9A645D3984}" type="presOf" srcId="{6ED20F78-E631-485D-AD21-D5EDE90DD059}" destId="{2C264540-0D50-40BF-B43E-DC83C170928C}" srcOrd="0" destOrd="0" presId="urn:microsoft.com/office/officeart/2005/8/layout/radial2"/>
    <dgm:cxn modelId="{E9C12724-6C89-4B87-9FD2-12F846227072}" type="presOf" srcId="{3CEEA450-9917-43E3-BE1D-94186020AA1C}" destId="{DF2C070C-69AF-4118-B7D2-B1B8FF8B5A26}" srcOrd="0" destOrd="0" presId="urn:microsoft.com/office/officeart/2005/8/layout/radial2"/>
    <dgm:cxn modelId="{9F5D9125-9582-4914-9EE5-53CEFC8566CB}" type="presOf" srcId="{0FF8102F-6060-47E8-9137-77E309B75CB2}" destId="{186AA170-B4A1-4490-9B1F-0F882ACC88D7}" srcOrd="0" destOrd="4" presId="urn:microsoft.com/office/officeart/2005/8/layout/radial2"/>
    <dgm:cxn modelId="{B721CF2F-EE40-4625-9B57-1E40CFAE80E0}" srcId="{1FFC29E6-ED56-4D30-8700-26A2DAE3C382}" destId="{3E18ED56-A10E-43DC-B375-1BFA10BD466F}" srcOrd="0" destOrd="0" parTransId="{46A8F02C-1FC2-4D99-8EF9-3ED098655BAF}" sibTransId="{A62DDFE5-F150-4C51-8802-AD64BEC4FD46}"/>
    <dgm:cxn modelId="{55C9CC32-022E-4E21-A6DD-3A0D0C9BAA5B}" srcId="{F4A1F831-4EE7-49AB-98B7-9C291C7959D7}" destId="{A818407E-DCCF-4D2D-9254-0F75A3D895E3}" srcOrd="3" destOrd="0" parTransId="{2B57015A-8069-46EA-B537-1ED3BA9B1D66}" sibTransId="{DEC57B2F-0001-4724-AA66-5F48A573DF2D}"/>
    <dgm:cxn modelId="{88E23A33-FF53-40A6-B7A4-311435EBC29C}" srcId="{F4A1F831-4EE7-49AB-98B7-9C291C7959D7}" destId="{0FF8102F-6060-47E8-9137-77E309B75CB2}" srcOrd="4" destOrd="0" parTransId="{3F604B46-7D33-4898-A6CC-29174A526A03}" sibTransId="{1DBBC3DD-A217-475B-A983-6353043E5544}"/>
    <dgm:cxn modelId="{44D1D935-9007-437D-BD9C-05F0C7E59ED9}" type="presOf" srcId="{8F1BAFD3-44A0-493F-8D0D-6710EAFEAAAE}" destId="{186AA170-B4A1-4490-9B1F-0F882ACC88D7}" srcOrd="0" destOrd="2" presId="urn:microsoft.com/office/officeart/2005/8/layout/radial2"/>
    <dgm:cxn modelId="{60116B3F-5A91-4E6B-89F5-28AF88981267}" type="presOf" srcId="{A818407E-DCCF-4D2D-9254-0F75A3D895E3}" destId="{186AA170-B4A1-4490-9B1F-0F882ACC88D7}" srcOrd="0" destOrd="3" presId="urn:microsoft.com/office/officeart/2005/8/layout/radial2"/>
    <dgm:cxn modelId="{5E59595B-B869-43F3-919F-8D7455F864AD}" type="presOf" srcId="{C2DCE570-4945-45B7-AD63-165B85D735AC}" destId="{F963EF80-15A2-4949-87E7-4519DF295681}" srcOrd="0" destOrd="1" presId="urn:microsoft.com/office/officeart/2005/8/layout/radial2"/>
    <dgm:cxn modelId="{9F9AC444-3277-4E8A-8C3E-24392CF002E3}" srcId="{1FFC29E6-ED56-4D30-8700-26A2DAE3C382}" destId="{F81B1358-6DF8-464A-8E1C-586E71886E32}" srcOrd="1" destOrd="0" parTransId="{94F7FE48-D42F-4348-8B23-3B7F2233AA12}" sibTransId="{7D9A4AF4-81E8-4762-9FF9-D0EDDEE16F5A}"/>
    <dgm:cxn modelId="{60C25D6C-E73E-439D-8C51-5C0743EE5E7A}" type="presOf" srcId="{1FFC29E6-ED56-4D30-8700-26A2DAE3C382}" destId="{DC561F17-8398-4D1B-B114-87ED583CA702}" srcOrd="0" destOrd="0" presId="urn:microsoft.com/office/officeart/2005/8/layout/radial2"/>
    <dgm:cxn modelId="{DAA4B575-9284-4E32-8C22-7340D93F6F3C}" srcId="{B19E1B3D-E744-4A5C-BE9F-FBCD8BE1E034}" destId="{1FFC29E6-ED56-4D30-8700-26A2DAE3C382}" srcOrd="0" destOrd="0" parTransId="{3CEEA450-9917-43E3-BE1D-94186020AA1C}" sibTransId="{3157D036-5639-455A-955E-73BC2DAA8163}"/>
    <dgm:cxn modelId="{EBC43D8B-95E4-4DCE-B90C-8F6EECF36324}" type="presOf" srcId="{A045D35F-3FA4-4E06-992F-D58F44B5FA8E}" destId="{186AA170-B4A1-4490-9B1F-0F882ACC88D7}" srcOrd="0" destOrd="1" presId="urn:microsoft.com/office/officeart/2005/8/layout/radial2"/>
    <dgm:cxn modelId="{33794290-275E-41F8-B80D-7F4EE4ACB3D4}" srcId="{6ED20F78-E631-485D-AD21-D5EDE90DD059}" destId="{C2DCE570-4945-45B7-AD63-165B85D735AC}" srcOrd="1" destOrd="0" parTransId="{4BC79291-AFBC-4860-91EA-1852A97F8771}" sibTransId="{19155BCD-851B-440A-B6BA-43D5BCC992E6}"/>
    <dgm:cxn modelId="{F63B2091-9080-4AD2-8E16-5D8FE3F9DEC5}" srcId="{F4A1F831-4EE7-49AB-98B7-9C291C7959D7}" destId="{8F1BAFD3-44A0-493F-8D0D-6710EAFEAAAE}" srcOrd="2" destOrd="0" parTransId="{DEAC0A27-00E3-4222-BA7C-9EEAA316BA6C}" sibTransId="{2AAA305C-0678-4CAC-AF5E-C3475BEAAC11}"/>
    <dgm:cxn modelId="{01A27D97-7A70-4A2D-A7AC-64C9244FC626}" type="presOf" srcId="{AF39F2B8-1CCE-4090-9553-9490754F9BC8}" destId="{186AA170-B4A1-4490-9B1F-0F882ACC88D7}" srcOrd="0" destOrd="0" presId="urn:microsoft.com/office/officeart/2005/8/layout/radial2"/>
    <dgm:cxn modelId="{B6A4C89B-CC87-45A0-8592-CF50AE4D54B2}" srcId="{F4A1F831-4EE7-49AB-98B7-9C291C7959D7}" destId="{A045D35F-3FA4-4E06-992F-D58F44B5FA8E}" srcOrd="1" destOrd="0" parTransId="{74671B91-B7EE-4BD7-BE1F-8DDB9A6879B9}" sibTransId="{F806500F-8029-481F-9849-2F01B6842BC2}"/>
    <dgm:cxn modelId="{4E39B5AC-C5E6-4328-886A-38DD42637F2F}" type="presOf" srcId="{B19E1B3D-E744-4A5C-BE9F-FBCD8BE1E034}" destId="{49CC4367-88D6-46FF-BB84-E5AB0A44BD98}" srcOrd="0" destOrd="0" presId="urn:microsoft.com/office/officeart/2005/8/layout/radial2"/>
    <dgm:cxn modelId="{DC9819B5-2379-4896-B29A-DFD2C1690B81}" srcId="{B19E1B3D-E744-4A5C-BE9F-FBCD8BE1E034}" destId="{6ED20F78-E631-485D-AD21-D5EDE90DD059}" srcOrd="1" destOrd="0" parTransId="{056A5DA3-635E-45FE-9763-1F701A9392A5}" sibTransId="{6404D33B-DF77-4A4B-8F8D-1962BD73F88D}"/>
    <dgm:cxn modelId="{6E63C2BA-486E-451E-85BA-7FF3C6FC226D}" srcId="{6ED20F78-E631-485D-AD21-D5EDE90DD059}" destId="{DB9ACED2-964C-4B86-8108-F6B1E3505540}" srcOrd="0" destOrd="0" parTransId="{F2530B6A-93FD-4C8B-964B-0321FE8C3534}" sibTransId="{77B06D7C-B4F1-4991-BBB2-10F74D1F5A3D}"/>
    <dgm:cxn modelId="{21D2EABE-203B-4CB4-90CC-F97B4E73D2C4}" type="presOf" srcId="{F4A1F831-4EE7-49AB-98B7-9C291C7959D7}" destId="{CDD5E61B-C37F-4422-B31F-5E350C45B08B}" srcOrd="0" destOrd="0" presId="urn:microsoft.com/office/officeart/2005/8/layout/radial2"/>
    <dgm:cxn modelId="{3647DBC4-CD75-4139-BC13-17069A8CA612}" srcId="{F4A1F831-4EE7-49AB-98B7-9C291C7959D7}" destId="{AF39F2B8-1CCE-4090-9553-9490754F9BC8}" srcOrd="0" destOrd="0" parTransId="{EE7DF84B-931D-4BFE-BA99-94C5C500E5F8}" sibTransId="{E6DD1B11-AACF-43B1-A637-2D9A719A6EC2}"/>
    <dgm:cxn modelId="{69E0A8C6-3C78-4D09-8098-27C13FDC686B}" srcId="{B19E1B3D-E744-4A5C-BE9F-FBCD8BE1E034}" destId="{F4A1F831-4EE7-49AB-98B7-9C291C7959D7}" srcOrd="2" destOrd="0" parTransId="{62857663-E519-4393-9DE4-CD0F89B2612E}" sibTransId="{44AFAEB9-60DA-4381-AED9-11D73EBFE585}"/>
    <dgm:cxn modelId="{F8B78ED1-ED54-4152-9B71-85B29B5BB04E}" type="presOf" srcId="{3E18ED56-A10E-43DC-B375-1BFA10BD466F}" destId="{7B00B39F-1FC0-4C2D-8C65-7B879C7A7BCF}" srcOrd="0" destOrd="0" presId="urn:microsoft.com/office/officeart/2005/8/layout/radial2"/>
    <dgm:cxn modelId="{996A5AD8-2627-4DB7-ACDC-17D2B1FA734F}" type="presOf" srcId="{056A5DA3-635E-45FE-9763-1F701A9392A5}" destId="{D19FD4C7-EECC-4AA0-811C-65455BAD44DD}" srcOrd="0" destOrd="0" presId="urn:microsoft.com/office/officeart/2005/8/layout/radial2"/>
    <dgm:cxn modelId="{26BB7FDF-58DF-4973-A69C-B2CDB30CADF6}" type="presOf" srcId="{DB9ACED2-964C-4B86-8108-F6B1E3505540}" destId="{F963EF80-15A2-4949-87E7-4519DF295681}" srcOrd="0" destOrd="0" presId="urn:microsoft.com/office/officeart/2005/8/layout/radial2"/>
    <dgm:cxn modelId="{DFFECBE8-2DD9-4191-ACCE-232904FAAE33}" type="presOf" srcId="{F81B1358-6DF8-464A-8E1C-586E71886E32}" destId="{7B00B39F-1FC0-4C2D-8C65-7B879C7A7BCF}" srcOrd="0" destOrd="1" presId="urn:microsoft.com/office/officeart/2005/8/layout/radial2"/>
    <dgm:cxn modelId="{F92EB5F8-EBC1-4CD7-BB0A-6F3A7CD5F98C}" type="presOf" srcId="{62857663-E519-4393-9DE4-CD0F89B2612E}" destId="{80CACBE5-0076-4C09-B10E-A229DABCC7FF}" srcOrd="0" destOrd="0" presId="urn:microsoft.com/office/officeart/2005/8/layout/radial2"/>
    <dgm:cxn modelId="{65ED7A0D-0A81-49BE-B504-E5D62138E617}" type="presParOf" srcId="{49CC4367-88D6-46FF-BB84-E5AB0A44BD98}" destId="{9AA40AC0-3AEF-4135-95D2-A6CA7E9FC9CC}" srcOrd="0" destOrd="0" presId="urn:microsoft.com/office/officeart/2005/8/layout/radial2"/>
    <dgm:cxn modelId="{9C9577C4-FB0E-441D-9E44-F97291B2958F}" type="presParOf" srcId="{9AA40AC0-3AEF-4135-95D2-A6CA7E9FC9CC}" destId="{14616CAA-40CB-45C5-969C-F5488B14C4BD}" srcOrd="0" destOrd="0" presId="urn:microsoft.com/office/officeart/2005/8/layout/radial2"/>
    <dgm:cxn modelId="{D8009458-A2A6-4B80-AF24-7948F3BAE34F}" type="presParOf" srcId="{14616CAA-40CB-45C5-969C-F5488B14C4BD}" destId="{AAAAC46D-520B-4B7C-BB42-093D588499FD}" srcOrd="0" destOrd="0" presId="urn:microsoft.com/office/officeart/2005/8/layout/radial2"/>
    <dgm:cxn modelId="{03188D81-E396-48F6-A191-5100A9BD5966}" type="presParOf" srcId="{14616CAA-40CB-45C5-969C-F5488B14C4BD}" destId="{413D1C8C-9CEA-41B3-8CFD-66A857D8EA70}" srcOrd="1" destOrd="0" presId="urn:microsoft.com/office/officeart/2005/8/layout/radial2"/>
    <dgm:cxn modelId="{584BB874-7D59-48CA-BD79-CEAF99B38466}" type="presParOf" srcId="{9AA40AC0-3AEF-4135-95D2-A6CA7E9FC9CC}" destId="{DF2C070C-69AF-4118-B7D2-B1B8FF8B5A26}" srcOrd="1" destOrd="0" presId="urn:microsoft.com/office/officeart/2005/8/layout/radial2"/>
    <dgm:cxn modelId="{DCEB2257-5F03-42BD-AA3D-375FA98D18AE}" type="presParOf" srcId="{9AA40AC0-3AEF-4135-95D2-A6CA7E9FC9CC}" destId="{E225AE59-DF9B-43E5-8907-4B612B3A117E}" srcOrd="2" destOrd="0" presId="urn:microsoft.com/office/officeart/2005/8/layout/radial2"/>
    <dgm:cxn modelId="{2BB1DB0D-290F-4839-9517-60C99B8CB32D}" type="presParOf" srcId="{E225AE59-DF9B-43E5-8907-4B612B3A117E}" destId="{DC561F17-8398-4D1B-B114-87ED583CA702}" srcOrd="0" destOrd="0" presId="urn:microsoft.com/office/officeart/2005/8/layout/radial2"/>
    <dgm:cxn modelId="{7B2F2579-7B11-4BF7-9114-D97A7087D2B4}" type="presParOf" srcId="{E225AE59-DF9B-43E5-8907-4B612B3A117E}" destId="{7B00B39F-1FC0-4C2D-8C65-7B879C7A7BCF}" srcOrd="1" destOrd="0" presId="urn:microsoft.com/office/officeart/2005/8/layout/radial2"/>
    <dgm:cxn modelId="{9DCA27CC-C755-4498-A97F-4837881D8E36}" type="presParOf" srcId="{9AA40AC0-3AEF-4135-95D2-A6CA7E9FC9CC}" destId="{D19FD4C7-EECC-4AA0-811C-65455BAD44DD}" srcOrd="3" destOrd="0" presId="urn:microsoft.com/office/officeart/2005/8/layout/radial2"/>
    <dgm:cxn modelId="{580F7CDD-2A15-4E77-B80D-F682F0E4624D}" type="presParOf" srcId="{9AA40AC0-3AEF-4135-95D2-A6CA7E9FC9CC}" destId="{370C80D0-3CEE-4354-84A3-10BA17EE40A2}" srcOrd="4" destOrd="0" presId="urn:microsoft.com/office/officeart/2005/8/layout/radial2"/>
    <dgm:cxn modelId="{3914C35E-CC7E-41D8-91D8-52FDDBB5BD31}" type="presParOf" srcId="{370C80D0-3CEE-4354-84A3-10BA17EE40A2}" destId="{2C264540-0D50-40BF-B43E-DC83C170928C}" srcOrd="0" destOrd="0" presId="urn:microsoft.com/office/officeart/2005/8/layout/radial2"/>
    <dgm:cxn modelId="{EF3BC8E6-EC9D-4136-84F1-307109B2E8A2}" type="presParOf" srcId="{370C80D0-3CEE-4354-84A3-10BA17EE40A2}" destId="{F963EF80-15A2-4949-87E7-4519DF295681}" srcOrd="1" destOrd="0" presId="urn:microsoft.com/office/officeart/2005/8/layout/radial2"/>
    <dgm:cxn modelId="{421E869F-FB2F-42B0-B9CB-1A648AFCC2E1}" type="presParOf" srcId="{9AA40AC0-3AEF-4135-95D2-A6CA7E9FC9CC}" destId="{80CACBE5-0076-4C09-B10E-A229DABCC7FF}" srcOrd="5" destOrd="0" presId="urn:microsoft.com/office/officeart/2005/8/layout/radial2"/>
    <dgm:cxn modelId="{56C38F6A-E9FA-4EAA-BF83-BF617E6334F9}" type="presParOf" srcId="{9AA40AC0-3AEF-4135-95D2-A6CA7E9FC9CC}" destId="{E0DAAAA1-47B0-49CA-8064-B88AD14FAF01}" srcOrd="6" destOrd="0" presId="urn:microsoft.com/office/officeart/2005/8/layout/radial2"/>
    <dgm:cxn modelId="{BE014E08-BD2C-41DD-8A63-D3EB6E63EDE3}" type="presParOf" srcId="{E0DAAAA1-47B0-49CA-8064-B88AD14FAF01}" destId="{CDD5E61B-C37F-4422-B31F-5E350C45B08B}" srcOrd="0" destOrd="0" presId="urn:microsoft.com/office/officeart/2005/8/layout/radial2"/>
    <dgm:cxn modelId="{1C7B0961-71A2-4FCF-8B17-26F597CC99C3}" type="presParOf" srcId="{E0DAAAA1-47B0-49CA-8064-B88AD14FAF01}" destId="{186AA170-B4A1-4490-9B1F-0F882ACC88D7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ACBE5-0076-4C09-B10E-A229DABCC7FF}">
      <dsp:nvSpPr>
        <dsp:cNvPr id="0" name=""/>
        <dsp:cNvSpPr/>
      </dsp:nvSpPr>
      <dsp:spPr>
        <a:xfrm rot="2563200">
          <a:off x="4321296" y="4027380"/>
          <a:ext cx="863689" cy="42055"/>
        </a:xfrm>
        <a:custGeom>
          <a:avLst/>
          <a:gdLst/>
          <a:ahLst/>
          <a:cxnLst/>
          <a:rect l="0" t="0" r="0" b="0"/>
          <a:pathLst>
            <a:path>
              <a:moveTo>
                <a:pt x="0" y="21027"/>
              </a:moveTo>
              <a:lnTo>
                <a:pt x="863689" y="210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9FD4C7-EECC-4AA0-811C-65455BAD44DD}">
      <dsp:nvSpPr>
        <dsp:cNvPr id="0" name=""/>
        <dsp:cNvSpPr/>
      </dsp:nvSpPr>
      <dsp:spPr>
        <a:xfrm>
          <a:off x="4435874" y="2844245"/>
          <a:ext cx="961027" cy="42055"/>
        </a:xfrm>
        <a:custGeom>
          <a:avLst/>
          <a:gdLst/>
          <a:ahLst/>
          <a:cxnLst/>
          <a:rect l="0" t="0" r="0" b="0"/>
          <a:pathLst>
            <a:path>
              <a:moveTo>
                <a:pt x="0" y="21027"/>
              </a:moveTo>
              <a:lnTo>
                <a:pt x="961027" y="210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2C070C-69AF-4118-B7D2-B1B8FF8B5A26}">
      <dsp:nvSpPr>
        <dsp:cNvPr id="0" name=""/>
        <dsp:cNvSpPr/>
      </dsp:nvSpPr>
      <dsp:spPr>
        <a:xfrm rot="19036800">
          <a:off x="4321296" y="1661110"/>
          <a:ext cx="863689" cy="42055"/>
        </a:xfrm>
        <a:custGeom>
          <a:avLst/>
          <a:gdLst/>
          <a:ahLst/>
          <a:cxnLst/>
          <a:rect l="0" t="0" r="0" b="0"/>
          <a:pathLst>
            <a:path>
              <a:moveTo>
                <a:pt x="0" y="21027"/>
              </a:moveTo>
              <a:lnTo>
                <a:pt x="863689" y="210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3D1C8C-9CEA-41B3-8CFD-66A857D8EA70}">
      <dsp:nvSpPr>
        <dsp:cNvPr id="0" name=""/>
        <dsp:cNvSpPr/>
      </dsp:nvSpPr>
      <dsp:spPr>
        <a:xfrm>
          <a:off x="2094764" y="1488149"/>
          <a:ext cx="2754246" cy="2754246"/>
        </a:xfrm>
        <a:prstGeom prst="ellipse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C561F17-8398-4D1B-B114-87ED583CA702}">
      <dsp:nvSpPr>
        <dsp:cNvPr id="0" name=""/>
        <dsp:cNvSpPr/>
      </dsp:nvSpPr>
      <dsp:spPr>
        <a:xfrm>
          <a:off x="4851179" y="2335"/>
          <a:ext cx="1652548" cy="1652548"/>
        </a:xfrm>
        <a:prstGeom prst="ellipse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latin typeface="Times New Roman"/>
              <a:ea typeface="Calibri"/>
              <a:cs typeface="Times New Roman"/>
            </a:rPr>
            <a:t>Purpose</a:t>
          </a:r>
        </a:p>
      </dsp:txBody>
      <dsp:txXfrm>
        <a:off x="5093189" y="244345"/>
        <a:ext cx="1168528" cy="1168528"/>
      </dsp:txXfrm>
    </dsp:sp>
    <dsp:sp modelId="{7B00B39F-1FC0-4C2D-8C65-7B879C7A7BCF}">
      <dsp:nvSpPr>
        <dsp:cNvPr id="0" name=""/>
        <dsp:cNvSpPr/>
      </dsp:nvSpPr>
      <dsp:spPr>
        <a:xfrm>
          <a:off x="6668982" y="2335"/>
          <a:ext cx="2478822" cy="1652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>
              <a:latin typeface="Times New Roman"/>
              <a:cs typeface="Times New Roman"/>
            </a:rPr>
            <a:t>Prevents the traffic signals from getting stuck in one state .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>
              <a:latin typeface="Times New Roman"/>
              <a:cs typeface="Times New Roman"/>
            </a:rPr>
            <a:t>Ensures continuous operation even during software or hardware glitches</a:t>
          </a:r>
        </a:p>
      </dsp:txBody>
      <dsp:txXfrm>
        <a:off x="6668982" y="2335"/>
        <a:ext cx="2478822" cy="1652548"/>
      </dsp:txXfrm>
    </dsp:sp>
    <dsp:sp modelId="{2C264540-0D50-40BF-B43E-DC83C170928C}">
      <dsp:nvSpPr>
        <dsp:cNvPr id="0" name=""/>
        <dsp:cNvSpPr/>
      </dsp:nvSpPr>
      <dsp:spPr>
        <a:xfrm>
          <a:off x="5396901" y="2038998"/>
          <a:ext cx="1652548" cy="1652548"/>
        </a:xfrm>
        <a:prstGeom prst="ellipse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/>
              <a:cs typeface="Times New Roman"/>
            </a:rPr>
            <a:t>How it works</a:t>
          </a:r>
        </a:p>
      </dsp:txBody>
      <dsp:txXfrm>
        <a:off x="5638911" y="2281008"/>
        <a:ext cx="1168528" cy="1168528"/>
      </dsp:txXfrm>
    </dsp:sp>
    <dsp:sp modelId="{F963EF80-15A2-4949-87E7-4519DF295681}">
      <dsp:nvSpPr>
        <dsp:cNvPr id="0" name=""/>
        <dsp:cNvSpPr/>
      </dsp:nvSpPr>
      <dsp:spPr>
        <a:xfrm>
          <a:off x="7214704" y="2038998"/>
          <a:ext cx="2478822" cy="1652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/>
              <a:cs typeface="Times New Roman"/>
            </a:rPr>
            <a:t>Controller must "reset" the watchdog timer periodically.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/>
              <a:cs typeface="Times New Roman"/>
            </a:rPr>
            <a:t>If it fails -&gt;Watchdog auto-resets the system.</a:t>
          </a:r>
        </a:p>
      </dsp:txBody>
      <dsp:txXfrm>
        <a:off x="7214704" y="2038998"/>
        <a:ext cx="2478822" cy="1652548"/>
      </dsp:txXfrm>
    </dsp:sp>
    <dsp:sp modelId="{CDD5E61B-C37F-4422-B31F-5E350C45B08B}">
      <dsp:nvSpPr>
        <dsp:cNvPr id="0" name=""/>
        <dsp:cNvSpPr/>
      </dsp:nvSpPr>
      <dsp:spPr>
        <a:xfrm>
          <a:off x="4851179" y="4075662"/>
          <a:ext cx="1652548" cy="1652548"/>
        </a:xfrm>
        <a:prstGeom prst="ellipse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latin typeface="Times New Roman"/>
              <a:cs typeface="Times New Roman"/>
            </a:rPr>
            <a:t>Benefits</a:t>
          </a:r>
        </a:p>
      </dsp:txBody>
      <dsp:txXfrm>
        <a:off x="5093189" y="4317672"/>
        <a:ext cx="1168528" cy="1168528"/>
      </dsp:txXfrm>
    </dsp:sp>
    <dsp:sp modelId="{186AA170-B4A1-4490-9B1F-0F882ACC88D7}">
      <dsp:nvSpPr>
        <dsp:cNvPr id="0" name=""/>
        <dsp:cNvSpPr/>
      </dsp:nvSpPr>
      <dsp:spPr>
        <a:xfrm>
          <a:off x="6668982" y="4075662"/>
          <a:ext cx="2478822" cy="1652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>
            <a:latin typeface="Times New Roman"/>
            <a:cs typeface="Times New Roman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>
            <a:latin typeface="Times New Roman"/>
            <a:cs typeface="Times New Roman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Times New Roman"/>
              <a:cs typeface="Times New Roman"/>
            </a:rPr>
            <a:t>Increases system reliability and fault tolerance. </a:t>
          </a:r>
          <a:endParaRPr lang="en-US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Times New Roman"/>
              <a:cs typeface="Times New Roman"/>
            </a:rPr>
            <a:t>Reduces manual intervention by auto-recovering from crashes 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Times New Roman"/>
              <a:cs typeface="Times New Roman"/>
            </a:rPr>
            <a:t>Ensures uninterrupted traffic flow and safety</a:t>
          </a:r>
        </a:p>
      </dsp:txBody>
      <dsp:txXfrm>
        <a:off x="6668982" y="4075662"/>
        <a:ext cx="2478822" cy="1652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A4B5F-8E77-46D7-80FF-95AE7B6319A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A2353-0A73-4473-B910-3729FB68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are.google/ZQgy0Tebrg8eap4UB" TargetMode="External"/><Relationship Id="rId5" Type="http://schemas.openxmlformats.org/officeDocument/2006/relationships/hyperlink" Target="https://timesofindia.indiatimes.com/city/mangaluru/smart-traffic-signals-trial-faces-delays-and-disruptions/articleshow/121144977.cms" TargetMode="External"/><Relationship Id="rId4" Type="http://schemas.openxmlformats.org/officeDocument/2006/relationships/hyperlink" Target="https://share.google/z5RrifWcLHbQvgZUw" TargetMode="External"/><Relationship Id="rId9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5755" y="-186806"/>
            <a:ext cx="10363200" cy="2076450"/>
          </a:xfrm>
        </p:spPr>
        <p:txBody>
          <a:bodyPr/>
          <a:lstStyle/>
          <a:p>
            <a:r>
              <a:rPr lang="en-US" sz="3600" b="1" u="sng">
                <a:solidFill>
                  <a:srgbClr val="010000"/>
                </a:solidFill>
                <a:latin typeface="Times New Roman" panose="02020603050405020304"/>
                <a:ea typeface="MS PGothic" panose="020B0600070205080204" pitchFamily="1" charset="-128"/>
              </a:rPr>
              <a:t>SMART INDIA HACKATHON 2025</a:t>
            </a:r>
            <a:endParaRPr lang="en-IN" sz="3600" b="1" u="sng">
              <a:solidFill>
                <a:srgbClr val="010000"/>
              </a:solidFill>
              <a:latin typeface="Times New Roman" panose="02020603050405020304"/>
              <a:ea typeface="MS PGothic" panose="020B0600070205080204" pitchFamily="1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85334"/>
            <a:ext cx="6848618" cy="46246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/>
              <a:buChar char="•"/>
            </a:pPr>
            <a:r>
              <a:rPr lang="en-US" sz="2400" b="1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Problem Statement ID –</a:t>
            </a:r>
            <a:r>
              <a:rPr lang="en-US" sz="2000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25050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Problem Statement Title- </a:t>
            </a:r>
            <a:r>
              <a:rPr lang="en-US" sz="2000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Smart Traffic</a:t>
            </a:r>
          </a:p>
          <a:p>
            <a:pPr algn="just">
              <a:lnSpc>
                <a:spcPct val="200000"/>
              </a:lnSpc>
            </a:pPr>
            <a:r>
              <a:rPr lang="en-US" sz="2000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    Management for Urban Congestion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Theme- </a:t>
            </a:r>
            <a:r>
              <a:rPr lang="en-US" sz="2000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Transportation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PS Category- </a:t>
            </a:r>
            <a:r>
              <a:rPr lang="en-US" sz="2000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Team ID- </a:t>
            </a:r>
            <a:r>
              <a:rPr lang="en-US" sz="2000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GID_331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Team Name- </a:t>
            </a:r>
            <a:r>
              <a:rPr lang="en-US" sz="2000">
                <a:latin typeface="Times New Roman" panose="02020603050405020304"/>
                <a:ea typeface="MS PGothic" panose="020B0600070205080204" pitchFamily="1" charset="-128"/>
                <a:cs typeface="Arial" panose="020B0604020202020204"/>
              </a:rPr>
              <a:t>Rush Hour Ninjas</a:t>
            </a:r>
            <a:endParaRPr lang="en-IN" sz="2000">
              <a:latin typeface="Times New Roman" panose="02020603050405020304"/>
              <a:ea typeface="MS PGothic" panose="020B0600070205080204" pitchFamily="1" charset="-128"/>
              <a:cs typeface="Arial" panose="020B0604020202020204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background with brown letters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6" y="-5539"/>
            <a:ext cx="2141354" cy="6401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2906" y="5270652"/>
            <a:ext cx="1027377" cy="1178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1514" y="-63153"/>
            <a:ext cx="10972800" cy="252246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endParaRPr lang="en-US" sz="3600" b="1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/>
          <p:cNvSpPr/>
          <p:nvPr/>
        </p:nvSpPr>
        <p:spPr>
          <a:xfrm>
            <a:off x="-3235" y="56986"/>
            <a:ext cx="12391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Rush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Hour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Ninjas</a:t>
            </a:r>
          </a:p>
        </p:txBody>
      </p:sp>
      <p:pic>
        <p:nvPicPr>
          <p:cNvPr id="26" name="Picture 25" descr="A diagram of traffic signal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18" y="1171464"/>
            <a:ext cx="4635376" cy="4779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10927" y="61949"/>
            <a:ext cx="593537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u="sng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GAPS IN EXISTING SYSTEM</a:t>
            </a:r>
            <a:endParaRPr lang="en-US" sz="2800" b="1" u="sng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9607" y="3892894"/>
            <a:ext cx="61958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1600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.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837" y="-54223"/>
            <a:ext cx="1887123" cy="102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/>
          <p:cNvSpPr/>
          <p:nvPr/>
        </p:nvSpPr>
        <p:spPr>
          <a:xfrm>
            <a:off x="970345" y="899797"/>
            <a:ext cx="6354500" cy="8179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Camera Detection Failure</a:t>
            </a:r>
            <a:endParaRPr lang="en-US" u="sng" dirty="0"/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cameras are often unable to detect motion properly. Recorded videos freeze ,which affects real time monitoring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973572" y="4738123"/>
            <a:ext cx="6354499" cy="80829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Signal Transmission Error</a:t>
            </a:r>
            <a:endParaRPr lang="en-US" u="sng" dirty="0"/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Frequent power cuts lead to complete shutdown of traffic signals. In case of long outages, the entire system remains non-functional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975115" y="2830748"/>
            <a:ext cx="6354501" cy="8565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Delayed Repairs</a:t>
            </a:r>
            <a:endParaRPr lang="en-US" u="sng" dirty="0"/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Even when faulty timers are reported , they are not repaired on the time. This reduces reliability of the traffic management system.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491275" y="1880797"/>
            <a:ext cx="6479892" cy="817944"/>
          </a:xfrm>
          <a:prstGeom prst="roundRect">
            <a:avLst/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/>
              </a:rPr>
              <a:t>Power Supply</a:t>
            </a:r>
            <a:r>
              <a:rPr lang="en-US" b="1" u="sng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Issues</a:t>
            </a:r>
            <a:endParaRPr lang="en-US" u="sng" dirty="0"/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/>
              </a:rPr>
              <a:t>Frequent power cuts lead to complete shutdown of traffic signals. In case of long outages, the entire system remains non-functional</a:t>
            </a:r>
            <a:endParaRPr lang="en-US" sz="16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482008" y="3822404"/>
            <a:ext cx="6469911" cy="816934"/>
          </a:xfrm>
          <a:prstGeom prst="roundRect">
            <a:avLst/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Non –Functional Count Timers</a:t>
            </a:r>
            <a:endParaRPr lang="en-US" u="sng" dirty="0"/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round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40% of the timers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are not working. Many of these cases go unreported leading to pro-longed issues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490872" y="5629936"/>
            <a:ext cx="6461050" cy="816936"/>
          </a:xfrm>
          <a:prstGeom prst="roundRect">
            <a:avLst/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Undertrained Algorithm</a:t>
            </a:r>
            <a:endParaRPr lang="en-US" u="sng" dirty="0"/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AI/algorithm used for traffic detection and control is not well-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trained.It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struggles with accuracy ,leading to inefficient signal management</a:t>
            </a:r>
            <a:r>
              <a:rPr lang="en-US" dirty="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227" y="1431882"/>
            <a:ext cx="9503985" cy="49343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>
              <a:latin typeface="Times New Roman" panose="02020603050405020304"/>
            </a:endParaRPr>
          </a:p>
          <a:p>
            <a:pPr>
              <a:buFont typeface="Wingdings" panose="05000000000000000000" pitchFamily="34" charset="0"/>
              <a:buChar char="v"/>
            </a:pPr>
            <a:endParaRPr lang="en-US" sz="2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77C3CE7-23F7-4828-823C-E0205DF2CF97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oup 25"/>
          <p:cNvGrpSpPr>
            <a:grpSpLocks noGrp="1" noUngrp="1" noRot="1" noChangeAspect="1" noMove="1" noResize="1"/>
          </p:cNvGrpSpPr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7" name="Rectangle 26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Oval 3" descr="Your startup LOGO"/>
          <p:cNvSpPr/>
          <p:nvPr/>
        </p:nvSpPr>
        <p:spPr>
          <a:xfrm>
            <a:off x="0" y="-1"/>
            <a:ext cx="1300585" cy="849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 panose="020F0502020204030204"/>
                <a:cs typeface="Calibri" panose="020F0502020204030204"/>
              </a:rPr>
              <a:t>Rush</a:t>
            </a:r>
          </a:p>
          <a:p>
            <a:pPr algn="ctr"/>
            <a:r>
              <a:rPr lang="en-US" sz="1400">
                <a:ea typeface="Calibri" panose="020F0502020204030204"/>
                <a:cs typeface="Calibri" panose="020F0502020204030204"/>
              </a:rPr>
              <a:t>Hour</a:t>
            </a:r>
          </a:p>
          <a:p>
            <a:pPr algn="ctr"/>
            <a:r>
              <a:rPr lang="en-US" sz="1400">
                <a:ea typeface="Calibri" panose="020F0502020204030204"/>
                <a:cs typeface="Calibri" panose="020F0502020204030204"/>
              </a:rPr>
              <a:t>Ninjas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60227" y="35288"/>
            <a:ext cx="10237384" cy="451886"/>
          </a:xfrm>
        </p:spPr>
        <p:txBody>
          <a:bodyPr/>
          <a:lstStyle/>
          <a:p>
            <a:r>
              <a:rPr lang="en-US" sz="3600" b="1" u="sng">
                <a:latin typeface="Times New Roman" panose="02020603050405020304"/>
                <a:ea typeface="MS PGothic" panose="020B0600070205080204" pitchFamily="1" charset="-128"/>
              </a:rPr>
              <a:t>Fail Safe Feature</a:t>
            </a:r>
            <a:endParaRPr lang="en-US" sz="3600" b="1" u="sng">
              <a:latin typeface="Times New Roman" panose="02020603050405020304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8E4912-3C71-A399-CF00-08D175E346E8}"/>
              </a:ext>
            </a:extLst>
          </p:cNvPr>
          <p:cNvSpPr/>
          <p:nvPr/>
        </p:nvSpPr>
        <p:spPr>
          <a:xfrm>
            <a:off x="4545904" y="3198395"/>
            <a:ext cx="1645890" cy="151294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0F42EDD-5D58-4A98-2DFC-951D29F93E31}"/>
              </a:ext>
            </a:extLst>
          </p:cNvPr>
          <p:cNvSpPr/>
          <p:nvPr/>
        </p:nvSpPr>
        <p:spPr>
          <a:xfrm>
            <a:off x="6809734" y="699094"/>
            <a:ext cx="2462833" cy="232731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Voltage by checking the input Voltage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C55DED0-CBCC-76EC-4531-6A66FA18A4B4}"/>
              </a:ext>
            </a:extLst>
          </p:cNvPr>
          <p:cNvSpPr/>
          <p:nvPr/>
        </p:nvSpPr>
        <p:spPr>
          <a:xfrm>
            <a:off x="7401838" y="3281488"/>
            <a:ext cx="3551406" cy="342583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Verifies whether the traffic signal is working or not by  sending a signal after every 50 sec and if the signal is not received after 120 sec it sends the update to the dashboard that the traffic signal is not working</a:t>
            </a:r>
          </a:p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8A75DE3-1E48-8C69-4FA7-B4BD4D051099}"/>
              </a:ext>
            </a:extLst>
          </p:cNvPr>
          <p:cNvSpPr/>
          <p:nvPr/>
        </p:nvSpPr>
        <p:spPr>
          <a:xfrm>
            <a:off x="457495" y="4172762"/>
            <a:ext cx="2462833" cy="232731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the alternate frames and reports it the frames are not in the right order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F278777-50A7-4CBE-27C7-8A7F4C5E5A9F}"/>
              </a:ext>
            </a:extLst>
          </p:cNvPr>
          <p:cNvSpPr/>
          <p:nvPr/>
        </p:nvSpPr>
        <p:spPr>
          <a:xfrm>
            <a:off x="1300585" y="967029"/>
            <a:ext cx="2704961" cy="256052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 if the camera froze in between or gives black screen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4317FA0-3BC9-C1BD-2662-D37C8102FEC5}"/>
              </a:ext>
            </a:extLst>
          </p:cNvPr>
          <p:cNvSpPr/>
          <p:nvPr/>
        </p:nvSpPr>
        <p:spPr>
          <a:xfrm>
            <a:off x="7260840" y="663360"/>
            <a:ext cx="1560620" cy="387465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Voltage Check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094EBE-271F-A1BC-C7FE-BCAA8D198472}"/>
              </a:ext>
            </a:extLst>
          </p:cNvPr>
          <p:cNvSpPr/>
          <p:nvPr/>
        </p:nvSpPr>
        <p:spPr>
          <a:xfrm>
            <a:off x="1000053" y="4007662"/>
            <a:ext cx="1562469" cy="3302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Frame Check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7AEC16-2531-3BA3-04AF-DAB2FF96A45A}"/>
              </a:ext>
            </a:extLst>
          </p:cNvPr>
          <p:cNvSpPr/>
          <p:nvPr/>
        </p:nvSpPr>
        <p:spPr>
          <a:xfrm>
            <a:off x="1873592" y="940375"/>
            <a:ext cx="1560620" cy="303403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Camera check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9DD010-DF2C-2C42-91B3-57651FB5B50E}"/>
              </a:ext>
            </a:extLst>
          </p:cNvPr>
          <p:cNvSpPr/>
          <p:nvPr/>
        </p:nvSpPr>
        <p:spPr>
          <a:xfrm>
            <a:off x="8183477" y="3198395"/>
            <a:ext cx="1922285" cy="406915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Network check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09A897-C5DF-4491-ED66-70D1334366EB}"/>
              </a:ext>
            </a:extLst>
          </p:cNvPr>
          <p:cNvSpPr/>
          <p:nvPr/>
        </p:nvSpPr>
        <p:spPr>
          <a:xfrm>
            <a:off x="12045789" y="0"/>
            <a:ext cx="181954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A3A51B-E27F-20AF-CCE1-E401598622D2}"/>
              </a:ext>
            </a:extLst>
          </p:cNvPr>
          <p:cNvSpPr/>
          <p:nvPr/>
        </p:nvSpPr>
        <p:spPr>
          <a:xfrm>
            <a:off x="8388400" y="5946612"/>
            <a:ext cx="1480219" cy="3243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Heartbeat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98A7740-A5EC-3FEF-8F79-51A1BE1059C1}"/>
              </a:ext>
            </a:extLst>
          </p:cNvPr>
          <p:cNvCxnSpPr>
            <a:endCxn id="40" idx="3"/>
          </p:cNvCxnSpPr>
          <p:nvPr/>
        </p:nvCxnSpPr>
        <p:spPr>
          <a:xfrm flipV="1">
            <a:off x="5991497" y="2685584"/>
            <a:ext cx="1178911" cy="841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152DDF0-8A18-9D75-FECF-5F3DE40B69D8}"/>
              </a:ext>
            </a:extLst>
          </p:cNvPr>
          <p:cNvCxnSpPr/>
          <p:nvPr/>
        </p:nvCxnSpPr>
        <p:spPr>
          <a:xfrm>
            <a:off x="6108373" y="4172762"/>
            <a:ext cx="1293465" cy="451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9E28B40-C5C1-780F-0360-446A89AAA24D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3892731" y="2812869"/>
            <a:ext cx="894208" cy="6070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CAB67F5-8EE6-4EF3-48D4-A2CD2AC5DA9C}"/>
              </a:ext>
            </a:extLst>
          </p:cNvPr>
          <p:cNvCxnSpPr>
            <a:cxnSpLocks/>
          </p:cNvCxnSpPr>
          <p:nvPr/>
        </p:nvCxnSpPr>
        <p:spPr>
          <a:xfrm flipH="1">
            <a:off x="2865254" y="4337862"/>
            <a:ext cx="1758997" cy="6565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161" y="-42849"/>
            <a:ext cx="13788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827" y="144029"/>
            <a:ext cx="7145482" cy="1321956"/>
          </a:xfrm>
        </p:spPr>
        <p:txBody>
          <a:bodyPr/>
          <a:lstStyle/>
          <a:p>
            <a:pPr algn="l">
              <a:lnSpc>
                <a:spcPct val="90000"/>
              </a:lnSpc>
            </a:pPr>
            <a:endParaRPr lang="en-US" sz="3200" b="1" u="sng">
              <a:latin typeface="Times New Roman" panose="02020603050405020304"/>
              <a:ea typeface="MS PGothic"/>
              <a:cs typeface="Times New Roman" panose="02020603050405020304"/>
            </a:endParaRPr>
          </a:p>
          <a:p>
            <a:pPr algn="l">
              <a:lnSpc>
                <a:spcPct val="90000"/>
              </a:lnSpc>
            </a:pPr>
            <a:endParaRPr lang="en-US" sz="3200"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6200" y="129523"/>
            <a:ext cx="1756641" cy="87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val 12" descr="Your startup LOGO"/>
          <p:cNvSpPr/>
          <p:nvPr/>
        </p:nvSpPr>
        <p:spPr>
          <a:xfrm>
            <a:off x="0" y="523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Rush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Hour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Ninjas</a:t>
            </a:r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0B101C7A-8B8C-5B54-702B-3F45E53651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3227426"/>
              </p:ext>
            </p:extLst>
          </p:nvPr>
        </p:nvGraphicFramePr>
        <p:xfrm>
          <a:off x="-1477343" y="600585"/>
          <a:ext cx="11788292" cy="5730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438DAA5A-E472-74E1-1EE7-F82F4F8E8E91}"/>
              </a:ext>
            </a:extLst>
          </p:cNvPr>
          <p:cNvSpPr txBox="1"/>
          <p:nvPr/>
        </p:nvSpPr>
        <p:spPr>
          <a:xfrm>
            <a:off x="1079189" y="2311696"/>
            <a:ext cx="181947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Times New Roman"/>
                <a:ea typeface="MS PGothic"/>
                <a:cs typeface="Calibri"/>
              </a:rPr>
              <a:t>A self - monitoring timer inside each traffic controller that resets the system if it hangs or malfunctions</a:t>
            </a:r>
            <a:endParaRPr lang="en-US" b="1">
              <a:latin typeface="Times New Roman"/>
              <a:cs typeface="Calibri"/>
            </a:endParaRPr>
          </a:p>
        </p:txBody>
      </p:sp>
      <p:sp>
        <p:nvSpPr>
          <p:cNvPr id="5385" name="TextBox 5384">
            <a:extLst>
              <a:ext uri="{FF2B5EF4-FFF2-40B4-BE49-F238E27FC236}">
                <a16:creationId xmlns:a16="http://schemas.microsoft.com/office/drawing/2014/main" id="{A073D954-39D5-4F81-E116-EBB9BB0EA084}"/>
              </a:ext>
            </a:extLst>
          </p:cNvPr>
          <p:cNvSpPr txBox="1"/>
          <p:nvPr/>
        </p:nvSpPr>
        <p:spPr>
          <a:xfrm flipH="1">
            <a:off x="1511394" y="-45746"/>
            <a:ext cx="33984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u="sng">
                <a:latin typeface="Times New Roman"/>
                <a:ea typeface="MS PGothic"/>
                <a:cs typeface="Calibri"/>
              </a:rPr>
              <a:t>Watchdog</a:t>
            </a:r>
            <a:endParaRPr lang="en-US" sz="3600" b="1" u="sng">
              <a:latin typeface="Times New Roman"/>
              <a:cs typeface="Calibri"/>
            </a:endParaRPr>
          </a:p>
        </p:txBody>
      </p:sp>
      <p:pic>
        <p:nvPicPr>
          <p:cNvPr id="5386" name="Picture 5385" descr="A dog wearing glasses and headphones sitting on a table with a computer&#10;&#10;AI-generated content may be incorrect.">
            <a:extLst>
              <a:ext uri="{FF2B5EF4-FFF2-40B4-BE49-F238E27FC236}">
                <a16:creationId xmlns:a16="http://schemas.microsoft.com/office/drawing/2014/main" id="{3DB9DACF-4117-9838-EEEC-F0C77B61C2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6646" y="1975619"/>
            <a:ext cx="2909736" cy="29067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15704" y="-2209"/>
            <a:ext cx="71605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600" b="1" u="sng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Model Training &amp; Data collection</a:t>
            </a:r>
            <a:endParaRPr lang="en-US" sz="3600" b="1" u="sng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041626"/>
            <a:ext cx="92093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Performance Results &amp; Real-World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185" y="3667125"/>
            <a:ext cx="325210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>
                <a:latin typeface="Times New Roman" panose="02020603050405020304"/>
                <a:ea typeface="MS PGothic" panose="020B0600070205080204" pitchFamily="1" charset="-128"/>
                <a:cs typeface="Calibri" panose="020F0502020204030204"/>
              </a:rPr>
              <a:t>Key Outcomes:-</a:t>
            </a:r>
            <a:endParaRPr lang="en-US" sz="2000" b="1">
              <a:latin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186" y="4194401"/>
            <a:ext cx="4702626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Wingdings" panose="05000000000000000000"/>
              <a:buChar char="Ø"/>
            </a:pPr>
            <a:r>
              <a:rPr lang="en-US" sz="160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Real-time detection of vehicles and pedestrians with high accuracy.</a:t>
            </a:r>
            <a:endParaRPr lang="en-US">
              <a:latin typeface="Times New Roman" panose="02020603050405020304"/>
              <a:cs typeface="Calibri" panose="020F0502020204030204"/>
            </a:endParaRPr>
          </a:p>
          <a:p>
            <a:endParaRPr lang="en-US" sz="1600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 panose="05000000000000000000"/>
              <a:buChar char="Ø"/>
            </a:pPr>
            <a:r>
              <a:rPr lang="en-US" sz="160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Precise vehicle counting enables </a:t>
            </a:r>
            <a:r>
              <a:rPr lang="en-US" sz="1600">
                <a:solidFill>
                  <a:srgbClr val="4950BC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dynamic signal timing</a:t>
            </a:r>
            <a:r>
              <a:rPr lang="en-US" sz="160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 adjustments.</a:t>
            </a:r>
          </a:p>
          <a:p>
            <a:pPr marL="285750" indent="-285750">
              <a:buFont typeface="Wingdings" panose="05000000000000000000"/>
              <a:buChar char="Ø"/>
            </a:pPr>
            <a:endParaRPr lang="en-US" sz="1600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 panose="05000000000000000000"/>
              <a:buChar char="Ø"/>
            </a:pPr>
            <a:r>
              <a:rPr lang="en-US" sz="160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Robust performance across varying lighting conditions and weather scenarios</a:t>
            </a:r>
          </a:p>
          <a:p>
            <a:pPr marL="285750" indent="-285750" algn="l">
              <a:buFont typeface="Wingdings" panose="05000000000000000000"/>
              <a:buChar char="Ø"/>
            </a:pPr>
            <a:endParaRPr lang="en-US" sz="1600">
              <a:solidFill>
                <a:srgbClr val="272525"/>
              </a:solidFill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/>
              <a:buChar char="Ø"/>
            </a:pPr>
            <a:endParaRPr lang="en-US" sz="1600">
              <a:solidFill>
                <a:srgbClr val="272525"/>
              </a:solidFill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/>
              <a:buChar char="Ø"/>
            </a:pPr>
            <a:endParaRPr lang="en-US"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2809" y="1617210"/>
            <a:ext cx="2351315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400" b="1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85%</a:t>
            </a:r>
            <a:endParaRPr lang="en-US" sz="2400">
              <a:latin typeface="Times New Roman" panose="02020603050405020304"/>
              <a:cs typeface="Calibri" panose="020F0502020204030204"/>
            </a:endParaRPr>
          </a:p>
          <a:p>
            <a:pPr algn="ctr"/>
            <a:r>
              <a:rPr lang="en-US" b="1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mAP@50 Accuracy</a:t>
            </a:r>
            <a:endParaRPr lang="en-US">
              <a:latin typeface="Times New Roman" panose="02020603050405020304"/>
              <a:cs typeface="Calibri" panose="020F0502020204030204"/>
            </a:endParaRPr>
          </a:p>
          <a:p>
            <a:pPr algn="ctr"/>
            <a:endParaRPr lang="en-US" sz="1100" b="1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Exceptional detection precision across all five vehicle and pedestrian classes</a:t>
            </a:r>
            <a:endParaRPr lang="en-US">
              <a:latin typeface="Times New Roman" panose="02020603050405020304"/>
              <a:cs typeface="Calibri" panose="020F0502020204030204"/>
            </a:endParaRPr>
          </a:p>
          <a:p>
            <a:pPr algn="ctr"/>
            <a:endParaRPr lang="en-US" b="1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 pitchFamily="34" charset="0"/>
            </a:endParaRPr>
          </a:p>
          <a:p>
            <a:pPr algn="ctr"/>
            <a:endParaRPr lang="en-US" b="1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 pitchFamily="34" charset="0"/>
            </a:endParaRPr>
          </a:p>
          <a:p>
            <a:pPr algn="ctr"/>
            <a:endParaRPr lang="en-US">
              <a:cs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20042" y="1617209"/>
            <a:ext cx="2307772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400" b="1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35</a:t>
            </a:r>
          </a:p>
          <a:p>
            <a:pPr algn="ctr"/>
            <a:r>
              <a:rPr lang="en-US" b="1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Frames Per Second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 algn="ctr"/>
            <a:endParaRPr lang="en-US" sz="1100" b="1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>
                <a:solidFill>
                  <a:srgbClr val="27252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Real-time inference speed enabling dynamic traffic signal optimization</a:t>
            </a:r>
            <a:endParaRPr lang="en-US"/>
          </a:p>
          <a:p>
            <a:pPr algn="ctr"/>
            <a:endParaRPr lang="en-US" sz="1600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ctr"/>
            <a:endParaRPr lang="en-US" b="1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 pitchFamily="34" charset="0"/>
            </a:endParaRPr>
          </a:p>
          <a:p>
            <a:pPr algn="ctr"/>
            <a:endParaRPr lang="en-US" b="1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 pitchFamily="34" charset="0"/>
            </a:endParaRPr>
          </a:p>
          <a:p>
            <a:pPr algn="ctr"/>
            <a:endParaRPr lang="en-US">
              <a:cs typeface="Calibri" panose="020F0502020204030204" pitchFamily="34" charset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5142230" y="1028700"/>
            <a:ext cx="3430905" cy="289242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 u="sng">
              <a:solidFill>
                <a:srgbClr val="000000"/>
              </a:solidFill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8686999" y="831265"/>
            <a:ext cx="3423731" cy="34087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 u="sng">
              <a:solidFill>
                <a:srgbClr val="000000"/>
              </a:solidFill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22" name="Rectangle: Rounded Corners 21"/>
          <p:cNvSpPr/>
          <p:nvPr/>
        </p:nvSpPr>
        <p:spPr>
          <a:xfrm>
            <a:off x="5740847" y="4584572"/>
            <a:ext cx="5727204" cy="206480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950" b="1">
              <a:solidFill>
                <a:srgbClr val="272525"/>
              </a:solidFill>
              <a:latin typeface="Inter Bold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87340" y="1040130"/>
            <a:ext cx="2941320" cy="3027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sz="2000" b="1" dirty="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Data Collection Sources</a:t>
            </a:r>
            <a:r>
              <a:rPr lang="en-US" sz="2000" dirty="0">
                <a:solidFill>
                  <a:srgbClr val="27252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  <a:endParaRPr 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AI City Challenge</a:t>
            </a:r>
            <a:endParaRPr lang="en-US" sz="1800" dirty="0">
              <a:latin typeface="Times New Roman" panose="02020603050405020304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Roboflow</a:t>
            </a:r>
            <a:endParaRPr lang="en-US" sz="1800" dirty="0">
              <a:latin typeface="Times New Roman" panose="02020603050405020304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Kaggle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7252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Category classification</a:t>
            </a:r>
            <a:r>
              <a:rPr lang="en-US" sz="2000" dirty="0">
                <a:solidFill>
                  <a:srgbClr val="27252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Car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Truck    </a:t>
            </a:r>
            <a:endParaRPr lang="en-US" sz="1800" dirty="0">
              <a:solidFill>
                <a:srgbClr val="000000"/>
              </a:solidFill>
              <a:latin typeface="Times New Roman" panose="02020603050405020304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Pedestrian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Bicycles</a:t>
            </a:r>
            <a:endParaRPr lang="en-US" sz="1800" dirty="0">
              <a:latin typeface="Times New Roman" panose="02020603050405020304"/>
              <a:cs typeface="Calibri" panose="020F0502020204030204" pitchFamily="34" charset="0"/>
            </a:endParaRPr>
          </a:p>
          <a:p>
            <a:endParaRPr lang="en-US" sz="2000" dirty="0">
              <a:solidFill>
                <a:srgbClr val="27252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2000" b="1" dirty="0">
              <a:solidFill>
                <a:srgbClr val="272525"/>
              </a:solidFill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rgbClr val="000000"/>
              </a:solidFill>
              <a:cs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88095" y="1041400"/>
            <a:ext cx="3477260" cy="3039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800" b="1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Annotation Tools</a:t>
            </a: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err="1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Roboflow</a:t>
            </a:r>
            <a:endParaRPr lang="en-US" sz="160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LabelImg</a:t>
            </a:r>
            <a:endParaRPr lang="en-US" sz="160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700">
              <a:solidFill>
                <a:srgbClr val="272525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Preprocessing</a:t>
            </a: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Frame resizing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Bounding box normalization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700">
              <a:solidFill>
                <a:srgbClr val="272525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Augmentation Techniques</a:t>
            </a: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Horizontal flips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Blur effects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Brightness variations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>
              <a:solidFill>
                <a:srgbClr val="27252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rgbClr val="27252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2000" b="1">
              <a:solidFill>
                <a:srgbClr val="272525"/>
              </a:solidFill>
              <a:latin typeface="Times New Roman" panose="02020603050405020304"/>
              <a:ea typeface="MS PGothic" panose="020B0600070205080204" pitchFamily="1" charset="-128"/>
              <a:cs typeface="Times New Roman" panose="02020603050405020304"/>
            </a:endParaRPr>
          </a:p>
          <a:p>
            <a:endParaRPr lang="en-US" sz="2000" b="1">
              <a:solidFill>
                <a:srgbClr val="272525"/>
              </a:solidFill>
              <a:latin typeface="Times New Roman" panose="02020603050405020304"/>
              <a:ea typeface="MS PGothic" panose="020B0600070205080204" pitchFamily="1" charset="-128"/>
              <a:cs typeface="Times New Roman" panose="02020603050405020304"/>
            </a:endParaRPr>
          </a:p>
          <a:p>
            <a:endParaRPr lang="en-US" sz="2000" b="1">
              <a:solidFill>
                <a:srgbClr val="272525"/>
              </a:solidFill>
              <a:latin typeface="Times New Roman" panose="02020603050405020304"/>
              <a:ea typeface="MS PGothic" panose="020B0600070205080204" pitchFamily="1" charset="-128"/>
              <a:cs typeface="Times New Roman" panose="020206030504050203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0121" y="4756639"/>
            <a:ext cx="7048498" cy="19996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1800" b="1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Architecture</a:t>
            </a: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 YOLOv8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Data Split</a:t>
            </a: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 70% Train | 20% Validation | 10% Test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Training</a:t>
            </a:r>
            <a:r>
              <a:rPr lang="en-US" sz="1800">
                <a:solidFill>
                  <a:srgbClr val="272525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 100+ epochs, batch size = 16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Optimizer</a:t>
            </a:r>
            <a:r>
              <a:rPr lang="en-US" sz="18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 Adam                                   </a:t>
            </a:r>
          </a:p>
          <a:p>
            <a:r>
              <a:rPr lang="en-US" sz="1800" b="1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Hardware</a:t>
            </a:r>
            <a:r>
              <a:rPr lang="en-US" sz="18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 NVIDIA RTX-3050 (6GB)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 </a:t>
            </a:r>
            <a:r>
              <a:rPr lang="en-US" sz="1800" b="1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Loss Functions</a:t>
            </a:r>
            <a:r>
              <a:rPr lang="en-US" sz="18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: </a:t>
            </a:r>
            <a:r>
              <a:rPr lang="en-US" sz="1800" err="1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CIoU</a:t>
            </a:r>
            <a:r>
              <a:rPr lang="en-US" sz="18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 + BCE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7682" y="2474912"/>
            <a:ext cx="147097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Bike </a:t>
            </a:r>
            <a:endParaRPr lang="en-US" sz="1800" dirty="0">
              <a:solidFill>
                <a:srgbClr val="000000"/>
              </a:solidFill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Auto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Accidents</a:t>
            </a:r>
          </a:p>
          <a:p>
            <a:pPr algn="l"/>
            <a:endParaRPr lang="en-US" sz="1800" dirty="0">
              <a:cs typeface="Calibri" panose="020F0502020204030204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0F86FD03-060F-EBF4-035D-AB121B3B1749}"/>
              </a:ext>
            </a:extLst>
          </p:cNvPr>
          <p:cNvSpPr/>
          <p:nvPr/>
        </p:nvSpPr>
        <p:spPr>
          <a:xfrm>
            <a:off x="0" y="523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Rush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Hour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Ninjas</a:t>
            </a:r>
          </a:p>
        </p:txBody>
      </p:sp>
      <p:pic>
        <p:nvPicPr>
          <p:cNvPr id="4" name="Picture 2" descr="https://www.sih.gov.in/img1/SIH-Logo.png">
            <a:extLst>
              <a:ext uri="{FF2B5EF4-FFF2-40B4-BE49-F238E27FC236}">
                <a16:creationId xmlns:a16="http://schemas.microsoft.com/office/drawing/2014/main" id="{028EBAB3-94F2-BC6B-95C2-BA532BB9C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845" y="-36601"/>
            <a:ext cx="13788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5930" y="-289795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 AND WORKFLOW</a:t>
            </a:r>
          </a:p>
        </p:txBody>
      </p:sp>
      <p:sp>
        <p:nvSpPr>
          <p:cNvPr id="11" name="Oval 10" descr="Your startup LOGO"/>
          <p:cNvSpPr/>
          <p:nvPr/>
        </p:nvSpPr>
        <p:spPr>
          <a:xfrm>
            <a:off x="167861" y="136305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Rush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Hour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Ninjas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037" y="-3423"/>
            <a:ext cx="1925223" cy="97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83D4DF35-184A-4363-DA4C-EB0E84048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945" y="977986"/>
            <a:ext cx="10091864" cy="56228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417" y="-3423"/>
            <a:ext cx="10891520" cy="749817"/>
          </a:xfrm>
        </p:spPr>
        <p:txBody>
          <a:bodyPr/>
          <a:lstStyle/>
          <a:p>
            <a:pPr marL="0" indent="0">
              <a:lnSpc>
                <a:spcPts val="5200"/>
              </a:lnSpc>
              <a:buNone/>
            </a:pPr>
            <a:r>
              <a:rPr lang="en-US" sz="3200" b="1" u="sng" err="1">
                <a:solidFill>
                  <a:srgbClr val="000000"/>
                </a:solidFill>
                <a:latin typeface="Times New Roman" panose="02020603050405020304"/>
                <a:ea typeface="Inter Bold"/>
                <a:cs typeface="Arial" panose="020B0604020202020204"/>
              </a:rPr>
              <a:t>SmartFlow</a:t>
            </a:r>
            <a:r>
              <a:rPr lang="en-US" sz="3200" b="1" u="sng">
                <a:solidFill>
                  <a:srgbClr val="000000"/>
                </a:solidFill>
                <a:latin typeface="Times New Roman" panose="02020603050405020304"/>
                <a:ea typeface="Inter Bold"/>
                <a:cs typeface="Arial" panose="020B0604020202020204"/>
              </a:rPr>
              <a:t> vs. Existing: A Clear Advantage</a:t>
            </a:r>
            <a:endParaRPr lang="en-US" sz="3200" u="sng">
              <a:latin typeface="Times New Roman" panose="02020603050405020304"/>
              <a:ea typeface="Inter Bold"/>
              <a:cs typeface="Arial" panose="020B0604020202020204"/>
            </a:endParaRPr>
          </a:p>
        </p:txBody>
      </p:sp>
      <p:pic>
        <p:nvPicPr>
          <p:cNvPr id="7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037" y="-3423"/>
            <a:ext cx="1925223" cy="97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 descr="Your startup LOGO"/>
          <p:cNvSpPr/>
          <p:nvPr/>
        </p:nvSpPr>
        <p:spPr>
          <a:xfrm>
            <a:off x="0" y="2954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 panose="02020603050405020304"/>
                <a:ea typeface="Calibri" panose="020F0502020204030204"/>
                <a:cs typeface="Calibri" panose="020F0502020204030204"/>
              </a:rPr>
              <a:t>Rush</a:t>
            </a:r>
          </a:p>
          <a:p>
            <a:pPr algn="ctr"/>
            <a:r>
              <a:rPr lang="en-US">
                <a:latin typeface="Times New Roman" panose="02020603050405020304"/>
                <a:ea typeface="Calibri" panose="020F0502020204030204"/>
                <a:cs typeface="Calibri" panose="020F0502020204030204"/>
              </a:rPr>
              <a:t>Hour</a:t>
            </a:r>
          </a:p>
          <a:p>
            <a:pPr algn="ctr"/>
            <a:r>
              <a:rPr lang="en-US">
                <a:latin typeface="Times New Roman" panose="02020603050405020304"/>
                <a:ea typeface="Calibri" panose="020F0502020204030204"/>
                <a:cs typeface="Calibri" panose="020F0502020204030204"/>
              </a:rPr>
              <a:t>Ninjas</a:t>
            </a:r>
          </a:p>
        </p:txBody>
      </p:sp>
      <p:sp>
        <p:nvSpPr>
          <p:cNvPr id="8" name="Text 1"/>
          <p:cNvSpPr/>
          <p:nvPr/>
        </p:nvSpPr>
        <p:spPr>
          <a:xfrm>
            <a:off x="548641" y="889311"/>
            <a:ext cx="11643359" cy="7498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>
                <a:solidFill>
                  <a:srgbClr val="272525"/>
                </a:solidFill>
                <a:latin typeface="Times New Roman" panose="02020603050405020304"/>
                <a:ea typeface="Inter"/>
                <a:cs typeface="Arial" panose="020B0604020202020204"/>
              </a:rPr>
              <a:t>Our system doesn't just improve traffic flow; it redefines reliability and responsiveness, setting a new standard for urban transportation infrastructure and public safety.</a:t>
            </a:r>
            <a:endParaRPr lang="en-US">
              <a:latin typeface="Times New Roman" panose="02020603050405020304"/>
              <a:ea typeface="Inter"/>
              <a:cs typeface="Arial" panose="020B0604020202020204"/>
            </a:endParaRP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31078"/>
              </p:ext>
            </p:extLst>
          </p:nvPr>
        </p:nvGraphicFramePr>
        <p:xfrm>
          <a:off x="381000" y="1591789"/>
          <a:ext cx="11429999" cy="5184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2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9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7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074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/>
                        </a:rPr>
                        <a:t>CRITERIA</a:t>
                      </a:r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/>
                        </a:rPr>
                        <a:t>Existing</a:t>
                      </a:r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err="1">
                          <a:latin typeface="Times New Roman" panose="02020603050405020304"/>
                        </a:rPr>
                        <a:t>SmartFlow</a:t>
                      </a:r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4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Multi-class Vehicle Detection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❌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Basic counting only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✅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</a:t>
                      </a:r>
                      <a:r>
                        <a:rPr lang="en-US" sz="1800">
                          <a:solidFill>
                            <a:srgbClr val="4950BC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Advanced AI classification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2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Lane-level Optimization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❌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Limited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✅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</a:t>
                      </a:r>
                      <a:r>
                        <a:rPr lang="en-US" sz="1800">
                          <a:solidFill>
                            <a:srgbClr val="4950BC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Precise, real-time adjustments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4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Accident/Obstruction Alerts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❌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None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✅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</a:t>
                      </a:r>
                      <a:r>
                        <a:rPr lang="en-US" sz="1800">
                          <a:solidFill>
                            <a:srgbClr val="4950BC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Immediate, granular notifications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2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Weather-aware Timing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❌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Unresponsive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✅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</a:t>
                      </a:r>
                      <a:r>
                        <a:rPr lang="en-US" sz="1800">
                          <a:solidFill>
                            <a:srgbClr val="4950BC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Adaptive to environmental conditions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4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Fail-safe Flash/Fixed Mode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❌ 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Partial/Manual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✅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</a:t>
                      </a:r>
                      <a:r>
                        <a:rPr lang="en-US" sz="1800">
                          <a:solidFill>
                            <a:srgbClr val="4950BC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Automated &amp; resilient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2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Authority Notifications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❌ 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None</a:t>
                      </a:r>
                      <a:endParaRPr lang="en-IN" sz="1800">
                        <a:latin typeface="Times New Roman" panose="02020603050405020304"/>
                        <a:ea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✅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</a:t>
                      </a:r>
                      <a:r>
                        <a:rPr lang="en-US" sz="1800">
                          <a:solidFill>
                            <a:srgbClr val="4950BC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Instant multi-channel alerts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64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Citizen Transparency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❌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Minimal</a:t>
                      </a:r>
                      <a:endParaRPr lang="en-US" sz="1800"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✅</a:t>
                      </a:r>
                      <a:r>
                        <a:rPr lang="en-US" sz="1800">
                          <a:solidFill>
                            <a:srgbClr val="272525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 </a:t>
                      </a:r>
                      <a:r>
                        <a:rPr lang="en-US" sz="1800">
                          <a:solidFill>
                            <a:srgbClr val="4950BC"/>
                          </a:solidFill>
                          <a:latin typeface="Times New Roman" panose="02020603050405020304"/>
                          <a:ea typeface="Inter"/>
                          <a:cs typeface="Inter" pitchFamily="34" charset="-120"/>
                        </a:rPr>
                        <a:t>Potential for public communication</a:t>
                      </a:r>
                      <a:endParaRPr lang="en-US" sz="1800">
                        <a:solidFill>
                          <a:srgbClr val="4950BC"/>
                        </a:solidFill>
                        <a:latin typeface="Times New Roman" panose="02020603050405020304"/>
                        <a:ea typeface="Inter"/>
                      </a:endParaRPr>
                    </a:p>
                    <a:p>
                      <a:endParaRPr lang="en-IN" sz="1800">
                        <a:latin typeface="Times New Roman" panose="02020603050405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214773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u="sng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IMPACT AND BENEFITS</a:t>
            </a:r>
          </a:p>
        </p:txBody>
      </p:sp>
      <p:sp>
        <p:nvSpPr>
          <p:cNvPr id="12" name="Oval 11" descr="Your startup LOGO"/>
          <p:cNvSpPr/>
          <p:nvPr/>
        </p:nvSpPr>
        <p:spPr>
          <a:xfrm>
            <a:off x="0" y="0"/>
            <a:ext cx="1251857" cy="92079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Rush</a:t>
            </a:r>
          </a:p>
          <a:p>
            <a:pPr algn="ctr"/>
            <a:r>
              <a:rPr lang="en-US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Hour</a:t>
            </a:r>
          </a:p>
          <a:p>
            <a:pPr algn="ctr"/>
            <a:r>
              <a:rPr lang="en-US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Ninjas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070" y="14901"/>
            <a:ext cx="2031415" cy="1032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1"/>
          <p:cNvSpPr/>
          <p:nvPr/>
        </p:nvSpPr>
        <p:spPr>
          <a:xfrm>
            <a:off x="1196059" y="850348"/>
            <a:ext cx="457870" cy="861608"/>
          </a:xfrm>
          <a:prstGeom prst="roundRect">
            <a:avLst>
              <a:gd name="adj" fmla="val 3600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81541" y="756611"/>
            <a:ext cx="2060794" cy="3056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r>
              <a:rPr lang="en-US" b="1" u="sng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Technological Impact</a:t>
            </a:r>
          </a:p>
          <a:p>
            <a:pPr marL="285750" indent="-285750">
              <a:buFont typeface="Arial" panose="020B0604020202020204"/>
              <a:buChar char="•"/>
            </a:pPr>
            <a:endParaRPr lang="en-US"/>
          </a:p>
          <a:p>
            <a:pPr marL="0" indent="0" algn="l">
              <a:lnSpc>
                <a:spcPts val="1950"/>
              </a:lnSpc>
              <a:buNone/>
            </a:pPr>
            <a:endParaRPr lang="en-US" sz="1600" b="1">
              <a:solidFill>
                <a:srgbClr val="272525"/>
              </a:solidFill>
              <a:latin typeface="Arial" panose="020B0604020202020204" pitchFamily="34" charset="0"/>
              <a:ea typeface="Inter Bold"/>
              <a:cs typeface="Arial" panose="020B06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185017" y="2171163"/>
            <a:ext cx="440149" cy="808445"/>
          </a:xfrm>
          <a:prstGeom prst="roundRect">
            <a:avLst>
              <a:gd name="adj" fmla="val 3600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1763915" y="2141576"/>
            <a:ext cx="3116853" cy="4674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b="1">
                <a:solidFill>
                  <a:srgbClr val="272525"/>
                </a:solidFill>
                <a:latin typeface="+mn-lt"/>
                <a:ea typeface="Inter Bold"/>
                <a:cs typeface="Arial" panose="020B0604020202020204"/>
              </a:rPr>
              <a:t> </a:t>
            </a:r>
            <a:r>
              <a:rPr lang="en-US" b="1" u="sng">
                <a:solidFill>
                  <a:srgbClr val="272525"/>
                </a:solidFill>
                <a:latin typeface="Times New Roman" panose="02020603050405020304"/>
                <a:ea typeface="Inter Bold"/>
                <a:cs typeface="Arial" panose="020B0604020202020204"/>
              </a:rPr>
              <a:t>Government / Policy impact</a:t>
            </a:r>
            <a:endParaRPr lang="en-US" b="1" u="sng">
              <a:solidFill>
                <a:srgbClr val="272525"/>
              </a:solidFill>
              <a:latin typeface="Times New Roman" panose="02020603050405020304"/>
              <a:ea typeface="Inter Bold"/>
              <a:cs typeface="Arial" panose="020B0604020202020204" pitchFamily="34" charset="0"/>
            </a:endParaRPr>
          </a:p>
        </p:txBody>
      </p:sp>
      <p:sp>
        <p:nvSpPr>
          <p:cNvPr id="14" name="Text 6"/>
          <p:cNvSpPr/>
          <p:nvPr/>
        </p:nvSpPr>
        <p:spPr>
          <a:xfrm flipV="1">
            <a:off x="3736680" y="2170471"/>
            <a:ext cx="5534025" cy="480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endParaRPr lang="en-US" sz="1400">
              <a:solidFill>
                <a:srgbClr val="272525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600">
              <a:solidFill>
                <a:srgbClr val="272525"/>
              </a:solidFill>
              <a:latin typeface="+mn-lt"/>
              <a:ea typeface="Calibri" panose="020F0502020204030204"/>
              <a:cs typeface="Calibri" panose="020F0502020204030204"/>
            </a:endParaRPr>
          </a:p>
          <a:p>
            <a:pPr algn="l"/>
            <a:endParaRPr lang="en-US" sz="1600">
              <a:solidFill>
                <a:srgbClr val="272525"/>
              </a:solidFill>
              <a:latin typeface="+mn-lt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endParaRPr lang="en-US" sz="1600">
              <a:solidFill>
                <a:srgbClr val="000000"/>
              </a:solidFill>
              <a:latin typeface="+mn-lt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endParaRPr lang="en-US" sz="1600">
              <a:solidFill>
                <a:srgbClr val="272525"/>
              </a:solidFill>
              <a:latin typeface="+mn-lt"/>
              <a:ea typeface="Inter"/>
              <a:cs typeface="Calibri" panose="020F0502020204030204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173974" y="3400639"/>
            <a:ext cx="437968" cy="810627"/>
          </a:xfrm>
          <a:prstGeom prst="roundRect">
            <a:avLst>
              <a:gd name="adj" fmla="val 3600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809" y="3626644"/>
            <a:ext cx="318275" cy="35643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807439" y="3485311"/>
            <a:ext cx="2874169" cy="20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>
                <a:solidFill>
                  <a:srgbClr val="272525"/>
                </a:solidFill>
                <a:latin typeface="+mn-lt"/>
                <a:ea typeface="Inter Bold"/>
                <a:cs typeface="Arial" panose="020B0604020202020204"/>
              </a:rPr>
              <a:t> </a:t>
            </a:r>
            <a:r>
              <a:rPr lang="en-US" b="1" u="sng">
                <a:latin typeface="Times New Roman" panose="02020603050405020304"/>
                <a:ea typeface="Inter Bold"/>
                <a:cs typeface="Times New Roman" panose="02020603050405020304"/>
              </a:rPr>
              <a:t>Economic Savings</a:t>
            </a:r>
          </a:p>
        </p:txBody>
      </p:sp>
      <p:sp>
        <p:nvSpPr>
          <p:cNvPr id="18" name="Text 9"/>
          <p:cNvSpPr/>
          <p:nvPr/>
        </p:nvSpPr>
        <p:spPr>
          <a:xfrm>
            <a:off x="1810798" y="3829895"/>
            <a:ext cx="6136466" cy="812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Adaptive signals reduce idle time → less petrol/diesel burned.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ts val="2000"/>
              </a:lnSpc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      Example: If each car saves just 0.1 </a:t>
            </a:r>
            <a:r>
              <a:rPr lang="en-US" sz="1600" err="1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litre</a:t>
            </a: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/day, across 1 lakh vehicles. </a:t>
            </a:r>
          </a:p>
          <a:p>
            <a:pPr>
              <a:lnSpc>
                <a:spcPts val="2000"/>
              </a:lnSpc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      It's </a:t>
            </a:r>
            <a:r>
              <a:rPr lang="en-US" sz="1600" err="1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approx</a:t>
            </a: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 10,000 </a:t>
            </a:r>
            <a:r>
              <a:rPr lang="en-US" sz="1600" err="1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litres</a:t>
            </a: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 saved daily.</a:t>
            </a:r>
            <a:endParaRPr lang="en-US">
              <a:cs typeface="Calibri" panose="020F0502020204030204" pitchFamily="34" charset="0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1168951" y="4731430"/>
            <a:ext cx="440150" cy="793292"/>
          </a:xfrm>
          <a:prstGeom prst="roundRect">
            <a:avLst>
              <a:gd name="adj" fmla="val 3600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1875083" y="4795436"/>
            <a:ext cx="2832065" cy="2337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b="1" u="sng">
                <a:solidFill>
                  <a:srgbClr val="272525"/>
                </a:solidFill>
                <a:latin typeface="Times New Roman" panose="02020603050405020304"/>
                <a:ea typeface="Inter Bold"/>
                <a:cs typeface="Arial" panose="020B0604020202020204"/>
              </a:rPr>
              <a:t>Environmental Impacts</a:t>
            </a:r>
            <a:endParaRPr lang="en-US" u="sng">
              <a:latin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1925140" y="5040965"/>
            <a:ext cx="5546120" cy="584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/>
                <a:ea typeface="Inter"/>
                <a:cs typeface="Times New Roman" panose="02020603050405020304"/>
              </a:rPr>
              <a:t>Lowers emissions and fuel use. </a:t>
            </a: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Promotes energy efficiency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ts val="2000"/>
              </a:lnSpc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     and supports sustainable urban planning.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1172317" y="5815670"/>
            <a:ext cx="464418" cy="863790"/>
          </a:xfrm>
          <a:prstGeom prst="roundRect">
            <a:avLst>
              <a:gd name="adj" fmla="val 3600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5" name="Text 14"/>
          <p:cNvSpPr/>
          <p:nvPr/>
        </p:nvSpPr>
        <p:spPr>
          <a:xfrm>
            <a:off x="1887841" y="5616300"/>
            <a:ext cx="2513528" cy="20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r>
              <a:rPr lang="en-US" b="1" u="sng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Social Benefits</a:t>
            </a:r>
          </a:p>
          <a:p>
            <a:pPr marL="285750" indent="-285750">
              <a:buFont typeface="Arial" panose="020B0604020202020204"/>
              <a:buChar char="•"/>
            </a:pPr>
            <a:endParaRPr lang="en-US"/>
          </a:p>
          <a:p>
            <a:pPr>
              <a:lnSpc>
                <a:spcPts val="1950"/>
              </a:lnSpc>
            </a:pPr>
            <a:endParaRPr lang="en-US" sz="1600" b="1">
              <a:solidFill>
                <a:srgbClr val="272525"/>
              </a:solidFill>
              <a:latin typeface="Arial" panose="020B0604020202020204" pitchFamily="34" charset="0"/>
              <a:ea typeface="Inter Bold"/>
              <a:cs typeface="Arial" panose="020B0604020202020204" pitchFamily="34" charset="0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1877253" y="5975119"/>
            <a:ext cx="5303987" cy="8857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Reduced Stress &amp; Road Rage.</a:t>
            </a:r>
            <a:endParaRPr lang="en-US" sz="1600">
              <a:latin typeface="Times New Roman" panose="02020603050405020304"/>
              <a:ea typeface="MS PGothic" panose="020B0600070205080204" pitchFamily="1" charset="-128"/>
              <a:cs typeface="Times New Roman" panose="020206030504050203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Less waiting and smoother traffic =.Calmer driving experience.</a:t>
            </a:r>
            <a:endParaRPr lang="en-US" sz="1600">
              <a:latin typeface="Times New Roman" panose="02020603050405020304"/>
              <a:ea typeface="MS PGothic" panose="020B0600070205080204" pitchFamily="1" charset="-128"/>
              <a:cs typeface="Times New Roman" panose="020206030504050203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Fewer fights, honking, and rash driving at congested junctions.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272525"/>
              </a:solidFill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/>
              <a:buChar char="•"/>
            </a:pPr>
            <a:endParaRPr lang="en-US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sz="1600">
              <a:solidFill>
                <a:srgbClr val="272525"/>
              </a:solidFill>
              <a:ea typeface="Inter" pitchFamily="34" charset="-122"/>
              <a:cs typeface="Calibri" panose="020F0502020204030204" pitchFamily="34" charset="0"/>
            </a:endParaRPr>
          </a:p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272525"/>
                </a:solidFill>
                <a:latin typeface="+mn-lt"/>
                <a:ea typeface="Inter"/>
                <a:cs typeface="Inter" pitchFamily="34" charset="-120"/>
              </a:rPr>
              <a:t> </a:t>
            </a:r>
            <a:endParaRPr lang="en-US" sz="1600">
              <a:latin typeface="+mn-lt"/>
              <a:cs typeface="Calibri" panose="020F0502020204030204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6741156" y="1069394"/>
            <a:ext cx="5366879" cy="874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000">
              <a:solidFill>
                <a:srgbClr val="272525"/>
              </a:solidFill>
              <a:latin typeface="Times New Roman" panose="02020603050405020304"/>
              <a:ea typeface="Inter"/>
            </a:endParaRPr>
          </a:p>
        </p:txBody>
      </p:sp>
      <p:pic>
        <p:nvPicPr>
          <p:cNvPr id="31" name="Picture 30" descr="A comparison of a road map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580" y="1457008"/>
            <a:ext cx="4240748" cy="4263767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332" y="4906939"/>
            <a:ext cx="417667" cy="400604"/>
          </a:xfrm>
          <a:prstGeom prst="rect">
            <a:avLst/>
          </a:prstGeom>
        </p:spPr>
      </p:pic>
      <p:pic>
        <p:nvPicPr>
          <p:cNvPr id="28" name="Graphic 27" descr="Cheers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5654" y="6133195"/>
            <a:ext cx="327660" cy="224790"/>
          </a:xfrm>
          <a:prstGeom prst="rect">
            <a:avLst/>
          </a:prstGeom>
        </p:spPr>
      </p:pic>
      <p:pic>
        <p:nvPicPr>
          <p:cNvPr id="29" name="Graphic 28" descr="Scales of justice with solid fil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0896" y="2396513"/>
            <a:ext cx="260394" cy="363089"/>
          </a:xfrm>
          <a:prstGeom prst="rect">
            <a:avLst/>
          </a:prstGeom>
        </p:spPr>
      </p:pic>
      <p:pic>
        <p:nvPicPr>
          <p:cNvPr id="30" name="Graphic 29" descr="Cloud Computing with solid fill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7182" y="1150855"/>
            <a:ext cx="360552" cy="26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3458" y="1068731"/>
            <a:ext cx="473205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sz="1600">
                <a:latin typeface="Times New Roman" panose="02020603050405020304"/>
                <a:ea typeface="Calibri" panose="020F0502020204030204"/>
                <a:cs typeface="Calibri" panose="020F0502020204030204"/>
              </a:rPr>
              <a:t>Adaptive signals reduce waiting time compared to fixed timers. </a:t>
            </a:r>
            <a:endParaRPr lang="en-US" sz="1600">
              <a:latin typeface="Times New Roman" panose="02020603050405020304"/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1600">
                <a:latin typeface="Times New Roman" panose="02020603050405020304"/>
                <a:ea typeface="Calibri" panose="020F0502020204030204"/>
                <a:cs typeface="Calibri" panose="020F0502020204030204"/>
              </a:rPr>
              <a:t>Historical traffic data stored in database can be used by city planners for designing better road networks.</a:t>
            </a:r>
            <a:endParaRPr lang="en-US" sz="160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72746" y="2413337"/>
            <a:ext cx="622411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Queue length + camera sensors can also detect red light violations, wrong-side driving, </a:t>
            </a:r>
            <a:r>
              <a:rPr lang="en-US" sz="1600" err="1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overspeeding</a:t>
            </a: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.</a:t>
            </a:r>
            <a:endParaRPr lang="en-US" sz="1600">
              <a:latin typeface="Times New Roman" panose="02020603050405020304"/>
              <a:ea typeface="MS PGothic" panose="020B0600070205080204" pitchFamily="1" charset="-128"/>
              <a:cs typeface="Times New Roman" panose="020206030504050203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160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This helps government automate e-challans and reduce manual policing.</a:t>
            </a:r>
            <a:endParaRPr lang="en-US" sz="1600">
              <a:latin typeface="Times New Roman" panose="02020603050405020304"/>
              <a:ea typeface="MS PGothic" panose="020B0600070205080204" pitchFamily="1" charset="-128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19254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u="sng">
                <a:latin typeface="Times New Roman" panose="02020603050405020304"/>
                <a:ea typeface="MS PGothic" panose="020B0600070205080204" pitchFamily="1" charset="-128"/>
                <a:cs typeface="Times New Roman" panose="02020603050405020304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9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/>
          <p:cNvSpPr/>
          <p:nvPr/>
        </p:nvSpPr>
        <p:spPr>
          <a:xfrm>
            <a:off x="0" y="-5763"/>
            <a:ext cx="1175657" cy="8906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Rush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Hour</a:t>
            </a:r>
          </a:p>
          <a:p>
            <a:pPr algn="ctr"/>
            <a:r>
              <a:rPr lang="en-US">
                <a:ea typeface="Calibri" panose="020F0502020204030204"/>
                <a:cs typeface="Calibri" panose="020F0502020204030204"/>
              </a:rPr>
              <a:t>Ninjas</a:t>
            </a:r>
            <a:endParaRPr lang="en-US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045" y="94479"/>
            <a:ext cx="1607182" cy="81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1"/>
          <p:cNvSpPr/>
          <p:nvPr/>
        </p:nvSpPr>
        <p:spPr>
          <a:xfrm>
            <a:off x="358528" y="1221023"/>
            <a:ext cx="11066318" cy="2805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b="1">
              <a:solidFill>
                <a:srgbClr val="272525"/>
              </a:solidFill>
              <a:latin typeface="Arial" panose="020B0604020202020204"/>
              <a:ea typeface="Inter"/>
              <a:cs typeface="Arial" panose="020B0604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8130" y="1056675"/>
            <a:ext cx="3837046" cy="5673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000" u="sng" dirty="0">
                <a:solidFill>
                  <a:srgbClr val="272525"/>
                </a:solidFill>
                <a:latin typeface="Arial Black" panose="020B0A04020102020204"/>
                <a:ea typeface="Calibri" panose="020F0502020204030204"/>
                <a:cs typeface="Calibri" panose="020F0502020204030204"/>
              </a:rPr>
              <a:t>Sources:</a:t>
            </a:r>
            <a:endParaRPr lang="en-US" sz="2000" u="sng" dirty="0">
              <a:latin typeface="Arial Black" panose="020B0A04020102020204"/>
            </a:endParaRPr>
          </a:p>
          <a:p>
            <a:pPr>
              <a:lnSpc>
                <a:spcPts val="2000"/>
              </a:lnSpc>
            </a:pPr>
            <a:endParaRPr lang="en-US" sz="2000" b="1" u="sng" dirty="0">
              <a:solidFill>
                <a:srgbClr val="272525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r>
              <a:rPr lang="en-US" sz="2000" b="1" u="sng" dirty="0">
                <a:solidFill>
                  <a:srgbClr val="272525"/>
                </a:solidFill>
                <a:latin typeface="Times New Roman"/>
                <a:ea typeface="Calibri" panose="020F0502020204030204"/>
                <a:cs typeface="Calibri" panose="020F0502020204030204"/>
              </a:rPr>
              <a:t>Mumbai</a:t>
            </a:r>
          </a:p>
          <a:p>
            <a:pPr>
              <a:lnSpc>
                <a:spcPts val="2000"/>
              </a:lnSpc>
            </a:pPr>
            <a:r>
              <a:rPr lang="en-US" b="1" dirty="0">
                <a:latin typeface="Times New Roman"/>
                <a:ea typeface="Calibri"/>
                <a:cs typeface="Calibri"/>
                <a:hlinkClick r:id="rId4"/>
              </a:rPr>
              <a:t>https://share.google/z5RrifWcLHbQvgZUw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endParaRPr lang="en-US" b="1" dirty="0">
              <a:latin typeface="Calibri"/>
            </a:endParaRPr>
          </a:p>
          <a:p>
            <a:pPr>
              <a:lnSpc>
                <a:spcPts val="2000"/>
              </a:lnSpc>
            </a:pPr>
            <a:endParaRPr lang="en-US" dirty="0">
              <a:solidFill>
                <a:srgbClr val="000000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r>
              <a:rPr lang="en-US" b="1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Mangaluru</a:t>
            </a:r>
            <a:endParaRPr lang="en-US" b="1" dirty="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 panose="020F0502020204030204"/>
                <a:cs typeface="Calibri"/>
                <a:hlinkClick r:id="rId5"/>
              </a:rPr>
              <a:t>https://timesofindia.indiatimes.com/city/mangaluru/smart-traffic-signals-trial-faces-delays-and-disruptions/articleshow/121144977.cms</a:t>
            </a:r>
            <a:endParaRPr lang="en-US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>
              <a:lnSpc>
                <a:spcPts val="2000"/>
              </a:lnSpc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000"/>
              </a:lnSpc>
            </a:pPr>
            <a:r>
              <a:rPr lang="en-US" b="1" u="sng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Kolkata</a:t>
            </a:r>
            <a:endParaRPr lang="en-US" u="sng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6"/>
              </a:rPr>
              <a:t>https://share.google/ZQgy0Tebrg8eap4UB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000"/>
              </a:lnSpc>
            </a:pPr>
            <a:endParaRPr lang="en-US" b="1" u="sng" dirty="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>
              <a:lnSpc>
                <a:spcPts val="2000"/>
              </a:lnSpc>
            </a:pPr>
            <a:endParaRPr lang="en-US" b="1" u="sng" dirty="0">
              <a:solidFill>
                <a:srgbClr val="000000"/>
              </a:solidFill>
              <a:latin typeface="Times New Roman"/>
              <a:ea typeface="Calibri" panose="020F0502020204030204"/>
              <a:cs typeface="Arial" panose="020B0604020202020204"/>
            </a:endParaRPr>
          </a:p>
          <a:p>
            <a:pPr>
              <a:lnSpc>
                <a:spcPts val="2000"/>
              </a:lnSpc>
            </a:pPr>
            <a:endParaRPr lang="en-US" sz="2000" b="1" u="sng" dirty="0">
              <a:solidFill>
                <a:srgbClr val="272525"/>
              </a:solidFill>
              <a:latin typeface="Arial" panose="020B060402020202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endParaRPr lang="en-US" sz="1600" u="sng" dirty="0">
              <a:solidFill>
                <a:srgbClr val="272525"/>
              </a:solidFill>
              <a:latin typeface="Arial Black" panose="020B0A0402010202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endParaRPr lang="en-US" sz="1000" dirty="0">
              <a:solidFill>
                <a:srgbClr val="27252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endParaRPr lang="en-US" sz="1000" dirty="0">
              <a:solidFill>
                <a:srgbClr val="27252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endParaRPr lang="en-US" sz="2000" dirty="0">
              <a:solidFill>
                <a:srgbClr val="272525"/>
              </a:solidFill>
              <a:latin typeface="Arial Black" panose="020B0A0402010202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endParaRPr lang="en-US" sz="2000" dirty="0">
              <a:solidFill>
                <a:srgbClr val="272525"/>
              </a:solidFill>
              <a:latin typeface="Arial Black" panose="020B0A0402010202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000"/>
              </a:lnSpc>
            </a:pPr>
            <a:endParaRPr lang="en-US" sz="1100" dirty="0">
              <a:solidFill>
                <a:srgbClr val="272525"/>
              </a:solidFill>
              <a:latin typeface="Arial Black" panose="020B0A04020102020204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92584" y="2307458"/>
            <a:ext cx="6511243" cy="2805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  <a:buSzPct val="100000"/>
            </a:pPr>
            <a:endParaRPr lang="en-US" sz="1400">
              <a:solidFill>
                <a:srgbClr val="272525"/>
              </a:solidFill>
              <a:latin typeface="Arial" panose="020B0604020202020204"/>
              <a:ea typeface="Inter"/>
              <a:cs typeface="Arial" panose="020B060402020202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-1422071" y="2869047"/>
            <a:ext cx="6511243" cy="561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1400">
              <a:solidFill>
                <a:srgbClr val="272525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310482" y="3405955"/>
            <a:ext cx="6511243" cy="561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1400" b="1">
              <a:solidFill>
                <a:srgbClr val="272525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10695" y="4303203"/>
            <a:ext cx="4618434" cy="2989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screenshot of a news page&#10;&#10;AI-generated content may be incorrect.">
            <a:extLst>
              <a:ext uri="{FF2B5EF4-FFF2-40B4-BE49-F238E27FC236}">
                <a16:creationId xmlns:a16="http://schemas.microsoft.com/office/drawing/2014/main" id="{72C61D9F-5012-A7F7-2D1E-AA3383320E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93" y="1221023"/>
            <a:ext cx="3491904" cy="489493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" name="Picture 9" descr="A screenshot of a website&#10;&#10;AI-generated content may be incorrect.">
            <a:extLst>
              <a:ext uri="{FF2B5EF4-FFF2-40B4-BE49-F238E27FC236}">
                <a16:creationId xmlns:a16="http://schemas.microsoft.com/office/drawing/2014/main" id="{66F76A60-7BD3-4BED-24BF-D5A5E6AF6B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9929" y="3911669"/>
            <a:ext cx="4030723" cy="254526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5" name="Picture 14" descr="A screenshot of a news page&#10;&#10;AI-generated content may be incorrect.">
            <a:extLst>
              <a:ext uri="{FF2B5EF4-FFF2-40B4-BE49-F238E27FC236}">
                <a16:creationId xmlns:a16="http://schemas.microsoft.com/office/drawing/2014/main" id="{93E9233E-536C-9649-B86C-0C027AE76C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7091" y="790560"/>
            <a:ext cx="4037818" cy="270237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865</Words>
  <Application>Microsoft Office PowerPoint</Application>
  <PresentationFormat>Widescreen</PresentationFormat>
  <Paragraphs>207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MS PGothic</vt:lpstr>
      <vt:lpstr>Arial</vt:lpstr>
      <vt:lpstr>Arial Black</vt:lpstr>
      <vt:lpstr>Calibri</vt:lpstr>
      <vt:lpstr>Inter</vt:lpstr>
      <vt:lpstr>Inter Bold</vt:lpstr>
      <vt:lpstr>Times New Roman</vt:lpstr>
      <vt:lpstr>TradeGothic</vt:lpstr>
      <vt:lpstr>Wingdings</vt:lpstr>
      <vt:lpstr>Office Theme</vt:lpstr>
      <vt:lpstr>SMART INDIA HACKATHON 2025</vt:lpstr>
      <vt:lpstr> </vt:lpstr>
      <vt:lpstr>Fail Safe Feature</vt:lpstr>
      <vt:lpstr>  </vt:lpstr>
      <vt:lpstr>PowerPoint Presentation</vt:lpstr>
      <vt:lpstr>TECHNICAL APPROACH AND WORKFLOW</vt:lpstr>
      <vt:lpstr>SmartFlow vs. Existing: A Clear Advantage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Harshit Singh</cp:lastModifiedBy>
  <cp:revision>6</cp:revision>
  <dcterms:created xsi:type="dcterms:W3CDTF">2013-12-12T18:46:00Z</dcterms:created>
  <dcterms:modified xsi:type="dcterms:W3CDTF">2025-09-20T09:06:08Z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2F305F6C0922452DAD87385F11A1C959_13</vt:lpwstr>
  </property>
  <property fmtid="{D5CDD505-2E9C-101B-9397-08002B2CF9AE}" pid="3" name="KSOProductBuildVer">
    <vt:lpwstr>1033-12.2.0.22549</vt:lpwstr>
  </property>
</Properties>
</file>